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D9DFF"/>
                </a:solidFill>
                <a:latin typeface="Menlo"/>
                <a:ea typeface="Menlo"/>
                <a:cs typeface="Menlo"/>
              </a:rPr>
              <a:t>EXPERIENCE GOVERNANCE KERNEL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10424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 i="0">
                <a:solidFill>
                  <a:srgbClr val="E8EDF5"/>
                </a:solidFill>
                <a:latin typeface="Menlo"/>
                <a:ea typeface="Menlo"/>
                <a:cs typeface="Menlo"/>
              </a:rPr>
              <a:t>evo-kernel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999232"/>
            <a:ext cx="640080" cy="54864"/>
          </a:xfrm>
          <a:prstGeom prst="rect">
            <a:avLst/>
          </a:prstGeom>
          <a:solidFill>
            <a:srgbClr val="3EC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9AA7B8"/>
                </a:solidFill>
                <a:latin typeface="PingFang SC"/>
                <a:ea typeface="PingFang SC"/>
                <a:cs typeface="PingFang SC"/>
              </a:rPr>
              <a:t>双 Harness 经验内核 —— 工程项目开发能力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7688"/>
                </a:solidFill>
                <a:latin typeface="PingFang SC"/>
                <a:ea typeface="PingFang SC"/>
                <a:cs typeface="PingFang SC"/>
              </a:rPr>
              <a:t>把 AI 编码 harness 从「无记忆的工具」，升级为带项目经验、带安全护栏、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70832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7688"/>
                </a:solidFill>
                <a:latin typeface="PingFang SC"/>
                <a:ea typeface="PingFang SC"/>
                <a:cs typeface="PingFang SC"/>
              </a:rPr>
              <a:t>经验可积累、可验证的工程开发系统。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07492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2700">
            <a:solidFill>
              <a:srgbClr val="4D9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i="0">
                <a:solidFill>
                  <a:srgbClr val="4D9DFF"/>
                </a:solidFill>
                <a:latin typeface="Menlo"/>
                <a:ea typeface="Menlo"/>
                <a:cs typeface="Menlo"/>
              </a:rPr>
              <a:t>pre_llm_call → recall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507492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2700">
            <a:solidFill>
              <a:srgbClr val="908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i="0">
                <a:solidFill>
                  <a:srgbClr val="9085E9"/>
                </a:solidFill>
                <a:latin typeface="Menlo"/>
                <a:ea typeface="Menlo"/>
                <a:cs typeface="Menlo"/>
              </a:rPr>
              <a:t>on_session_end → session-end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34656" y="507492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2700">
            <a:solidFill>
              <a:srgbClr val="EF83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i="0">
                <a:solidFill>
                  <a:srgbClr val="EF8383"/>
                </a:solidFill>
                <a:latin typeface="Menlo"/>
                <a:ea typeface="Menlo"/>
                <a:cs typeface="Menlo"/>
              </a:rPr>
              <a:t>pre_tool_call → guard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98932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688"/>
                </a:solidFill>
                <a:latin typeface="Menlo"/>
                <a:ea typeface="Menlo"/>
                <a:cs typeface="Menlo"/>
              </a:rPr>
              <a:t>2026-08  ·  euly  ·  Hermes × Claude Code  ·  纯文件 + git 内核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688"/>
                </a:solidFill>
                <a:latin typeface="Menlo"/>
                <a:ea typeface="Menlo"/>
                <a:cs typeface="Menlo"/>
              </a:rPr>
              <a:t>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62179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E8EDF5"/>
                </a:solidFill>
                <a:latin typeface="PingFang SC"/>
                <a:ea typeface="PingFang SC"/>
                <a:cs typeface="PingFang SC"/>
              </a:rPr>
              <a:t>一句话定位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98448"/>
            <a:ext cx="475488" cy="45720"/>
          </a:xfrm>
          <a:prstGeom prst="rect">
            <a:avLst/>
          </a:prstGeom>
          <a:solidFill>
            <a:srgbClr val="4D9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688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10817352" cy="1417320"/>
          </a:xfrm>
          <a:prstGeom prst="roundRect">
            <a:avLst>
              <a:gd name="adj" fmla="val 6000"/>
            </a:avLst>
          </a:prstGeom>
          <a:solidFill>
            <a:srgbClr val="141824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rIns="36576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9AA7B8"/>
                </a:solidFill>
                <a:latin typeface="PingFang SC"/>
                <a:ea typeface="PingFang SC"/>
                <a:cs typeface="PingFang SC"/>
              </a:rPr>
              <a:t>evo-kernel 是一个「</a:t>
            </a:r>
            <a:r>
              <a:rPr sz="1900" b="1" i="0">
                <a:solidFill>
                  <a:srgbClr val="E8EDF5"/>
                </a:solidFill>
                <a:latin typeface="PingFang SC"/>
                <a:ea typeface="PingFang SC"/>
                <a:cs typeface="PingFang SC"/>
              </a:rPr>
              <a:t>经验内核</a:t>
            </a:r>
            <a:r>
              <a:rPr sz="1900" b="0" i="0">
                <a:solidFill>
                  <a:srgbClr val="9AA7B8"/>
                </a:solidFill>
                <a:latin typeface="PingFang SC"/>
                <a:ea typeface="PingFang SC"/>
                <a:cs typeface="PingFang SC"/>
              </a:rPr>
              <a:t>」：纯文件 + git 存储的知识库，经 3 个 hook 挂到 AI 编码 harness，</a:t>
            </a:r>
            <a:r>
              <a:rPr sz="1900" b="0" i="0">
                <a:solidFill>
                  <a:srgbClr val="9AA7B8"/>
                </a:solidFill>
                <a:latin typeface="PingFang SC"/>
                <a:ea typeface="PingFang SC"/>
                <a:cs typeface="PingFang SC"/>
              </a:rPr>
              <a:t>把每一次对话自动转化为可检索、可复用、可固化的工程经验。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54480"/>
            <a:ext cx="82296" cy="1417320"/>
          </a:xfrm>
          <a:prstGeom prst="rect">
            <a:avLst/>
          </a:prstGeom>
          <a:solidFill>
            <a:srgbClr val="4D9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3383280"/>
            <a:ext cx="3447288" cy="1417320"/>
          </a:xfrm>
          <a:prstGeom prst="roundRect">
            <a:avLst>
              <a:gd name="adj" fmla="val 6000"/>
            </a:avLst>
          </a:prstGeom>
          <a:solidFill>
            <a:srgbClr val="181E2D"/>
          </a:solidFill>
          <a:ln w="12700">
            <a:solidFill>
              <a:srgbClr val="232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66160"/>
            <a:ext cx="28346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4D9DFF"/>
                </a:solidFill>
                <a:latin typeface="Menlo"/>
                <a:ea typeface="Menlo"/>
                <a:cs typeface="Menlo"/>
              </a:rPr>
              <a:t>260+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22452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7B8"/>
                </a:solidFill>
                <a:latin typeface="PingFang SC"/>
                <a:ea typeface="PingFang SC"/>
                <a:cs typeface="PingFang SC"/>
              </a:rPr>
              <a:t>已验证条目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48056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7B8"/>
                </a:solidFill>
                <a:latin typeface="PingFang SC"/>
                <a:ea typeface="PingFang SC"/>
                <a:cs typeface="PingFang SC"/>
              </a:rPr>
              <a:t>(manifest)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3383280"/>
            <a:ext cx="3447288" cy="1417320"/>
          </a:xfrm>
          <a:prstGeom prst="roundRect">
            <a:avLst>
              <a:gd name="adj" fmla="val 6000"/>
            </a:avLst>
          </a:prstGeom>
          <a:solidFill>
            <a:srgbClr val="181E2D"/>
          </a:solidFill>
          <a:ln w="12700">
            <a:solidFill>
              <a:srgbClr val="232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0872" y="3566160"/>
            <a:ext cx="28346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9085E9"/>
                </a:solidFill>
                <a:latin typeface="Menlo"/>
                <a:ea typeface="Menlo"/>
                <a:cs typeface="Menlo"/>
              </a:rPr>
              <a:t>6</a:t>
            </a:r>
            <a:r>
              <a:rPr sz="2600" b="1" i="0">
                <a:solidFill>
                  <a:srgbClr val="9085E9"/>
                </a:solidFill>
                <a:latin typeface="PingFang SC"/>
                <a:ea typeface="PingFang SC"/>
                <a:cs typeface="PingFang SC"/>
              </a:rPr>
              <a:t> 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422452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7B8"/>
                </a:solidFill>
                <a:latin typeface="PingFang SC"/>
                <a:ea typeface="PingFang SC"/>
                <a:cs typeface="PingFang SC"/>
              </a:rPr>
              <a:t>记忆形态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448056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7B8"/>
                </a:solidFill>
                <a:latin typeface="PingFang SC"/>
                <a:ea typeface="PingFang SC"/>
                <a:cs typeface="PingFang SC"/>
              </a:rPr>
              <a:t>facts / playbook / skills…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5864" y="3383280"/>
            <a:ext cx="3447288" cy="1417320"/>
          </a:xfrm>
          <a:prstGeom prst="roundRect">
            <a:avLst>
              <a:gd name="adj" fmla="val 6000"/>
            </a:avLst>
          </a:prstGeom>
          <a:solidFill>
            <a:srgbClr val="181E2D"/>
          </a:solidFill>
          <a:ln w="12700">
            <a:solidFill>
              <a:srgbClr val="232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3566160"/>
            <a:ext cx="28346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3EC03E"/>
                </a:solidFill>
                <a:latin typeface="Menlo"/>
                <a:ea typeface="Menlo"/>
                <a:cs typeface="Menlo"/>
              </a:rPr>
              <a:t>3 ×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422452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7B8"/>
                </a:solidFill>
                <a:latin typeface="PingFang SC"/>
                <a:ea typeface="PingFang SC"/>
                <a:cs typeface="PingFang SC"/>
              </a:rPr>
              <a:t>hooks × 双 harness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448056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7B8"/>
                </a:solidFill>
                <a:latin typeface="PingFang SC"/>
                <a:ea typeface="PingFang SC"/>
                <a:cs typeface="PingFang SC"/>
              </a:rPr>
              <a:t>Hermes / Claude Code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120640"/>
            <a:ext cx="3447288" cy="1051560"/>
          </a:xfrm>
          <a:prstGeom prst="roundRect">
            <a:avLst>
              <a:gd name="adj" fmla="val 6000"/>
            </a:avLst>
          </a:prstGeom>
          <a:solidFill>
            <a:srgbClr val="181E2D"/>
          </a:solidFill>
          <a:ln w="12700">
            <a:solidFill>
              <a:srgbClr val="232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285231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EDF5"/>
                </a:solidFill>
                <a:latin typeface="PingFang SC"/>
                <a:ea typeface="PingFang SC"/>
                <a:cs typeface="PingFang SC"/>
              </a:rPr>
              <a:t>经验即数据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623559"/>
            <a:ext cx="2971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688"/>
                </a:solidFill>
                <a:latin typeface="PingFang SC"/>
                <a:ea typeface="PingFang SC"/>
                <a:cs typeface="PingFang SC"/>
              </a:rPr>
              <a:t>markdown + git 版本化，全程可审计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0832" y="5120640"/>
            <a:ext cx="3447288" cy="1051560"/>
          </a:xfrm>
          <a:prstGeom prst="roundRect">
            <a:avLst>
              <a:gd name="adj" fmla="val 6000"/>
            </a:avLst>
          </a:prstGeom>
          <a:solidFill>
            <a:srgbClr val="181E2D"/>
          </a:solidFill>
          <a:ln w="12700">
            <a:solidFill>
              <a:srgbClr val="232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45152" y="5285231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EDF5"/>
                </a:solidFill>
                <a:latin typeface="PingFang SC"/>
                <a:ea typeface="PingFang SC"/>
                <a:cs typeface="PingFang SC"/>
              </a:rPr>
              <a:t>零依赖内核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5152" y="5623559"/>
            <a:ext cx="2971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688"/>
                </a:solidFill>
                <a:latin typeface="PingFang SC"/>
                <a:ea typeface="PingFang SC"/>
                <a:cs typeface="PingFang SC"/>
              </a:rPr>
              <a:t>单份 Node CLI（26 命令），无外部服务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55864" y="5120640"/>
            <a:ext cx="3447288" cy="1051560"/>
          </a:xfrm>
          <a:prstGeom prst="roundRect">
            <a:avLst>
              <a:gd name="adj" fmla="val 6000"/>
            </a:avLst>
          </a:prstGeom>
          <a:solidFill>
            <a:srgbClr val="181E2D"/>
          </a:solidFill>
          <a:ln w="12700">
            <a:solidFill>
              <a:srgbClr val="232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4" y="5285231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EDF5"/>
                </a:solidFill>
                <a:latin typeface="PingFang SC"/>
                <a:ea typeface="PingFang SC"/>
                <a:cs typeface="PingFang SC"/>
              </a:rPr>
              <a:t>协议唯一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0184" y="5623559"/>
            <a:ext cx="2971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688"/>
                </a:solidFill>
                <a:latin typeface="PingFang SC"/>
                <a:ea typeface="PingFang SC"/>
                <a:cs typeface="PingFang SC"/>
              </a:rPr>
              <a:t>只认 Claude hook 契约，换 harness 只换 adapter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49224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688"/>
                </a:solidFill>
                <a:latin typeface="Menlo"/>
                <a:ea typeface="Menlo"/>
                <a:cs typeface="Menlo"/>
              </a:rPr>
              <a:t>evo-kernel · 经验内核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6492240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688"/>
                </a:solidFill>
                <a:latin typeface="Menlo"/>
                <a:ea typeface="Menlo"/>
                <a:cs typeface="Menlo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688"/>
                </a:solidFill>
                <a:latin typeface="Menlo"/>
                <a:ea typeface="Menlo"/>
                <a:cs typeface="Menlo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62179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E8EDF5"/>
                </a:solidFill>
                <a:latin typeface="PingFang SC"/>
                <a:ea typeface="PingFang SC"/>
                <a:cs typeface="PingFang SC"/>
              </a:rPr>
              <a:t>总体架构：一个内核，双 harness 接线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98448"/>
            <a:ext cx="475488" cy="45720"/>
          </a:xfrm>
          <a:prstGeom prst="rect">
            <a:avLst/>
          </a:prstGeom>
          <a:solidFill>
            <a:srgbClr val="4D9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688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81328"/>
            <a:ext cx="7360920" cy="2148840"/>
          </a:xfrm>
          <a:prstGeom prst="roundRect">
            <a:avLst>
              <a:gd name="adj" fmla="val 6000"/>
            </a:avLst>
          </a:prstGeom>
          <a:solidFill>
            <a:srgbClr val="141824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2763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8EDF5"/>
                </a:solidFill>
                <a:latin typeface="Menlo"/>
                <a:ea typeface="Menlo"/>
                <a:cs typeface="Menlo"/>
              </a:rPr>
              <a:t>evo-kernel  经验内核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56816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688"/>
                </a:solidFill>
                <a:latin typeface="PingFang SC"/>
                <a:ea typeface="PingFang SC"/>
                <a:cs typeface="PingFang SC"/>
              </a:rPr>
              <a:t>纯 markdown + git · Node CLI 26 命令 · 目录即状态机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377440"/>
            <a:ext cx="1627632" cy="420624"/>
          </a:xfrm>
          <a:prstGeom prst="roundRect">
            <a:avLst>
              <a:gd name="adj" fmla="val 50000"/>
            </a:avLst>
          </a:prstGeom>
          <a:solidFill>
            <a:srgbClr val="181E2D"/>
          </a:solidFill>
          <a:ln w="12700">
            <a:solidFill>
              <a:srgbClr val="6B7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 i="0">
                <a:solidFill>
                  <a:srgbClr val="6B7688"/>
                </a:solidFill>
                <a:latin typeface="Menlo"/>
                <a:ea typeface="Menlo"/>
                <a:cs typeface="Menlo"/>
              </a:rPr>
              <a:t>inbox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2377440"/>
            <a:ext cx="1627632" cy="420624"/>
          </a:xfrm>
          <a:prstGeom prst="roundRect">
            <a:avLst>
              <a:gd name="adj" fmla="val 50000"/>
            </a:avLst>
          </a:prstGeom>
          <a:solidFill>
            <a:srgbClr val="181E2D"/>
          </a:solidFill>
          <a:ln w="12700">
            <a:solidFill>
              <a:srgbClr val="6B7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 i="0">
                <a:solidFill>
                  <a:srgbClr val="6B7688"/>
                </a:solidFill>
                <a:latin typeface="Menlo"/>
                <a:ea typeface="Menlo"/>
                <a:cs typeface="Menlo"/>
              </a:rPr>
              <a:t>lessons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377440"/>
            <a:ext cx="1627632" cy="420624"/>
          </a:xfrm>
          <a:prstGeom prst="roundRect">
            <a:avLst>
              <a:gd name="adj" fmla="val 50000"/>
            </a:avLst>
          </a:prstGeom>
          <a:solidFill>
            <a:srgbClr val="181E2D"/>
          </a:solidFill>
          <a:ln w="12700">
            <a:solidFill>
              <a:srgbClr val="908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 i="0">
                <a:solidFill>
                  <a:srgbClr val="9085E9"/>
                </a:solidFill>
                <a:latin typeface="Menlo"/>
                <a:ea typeface="Menlo"/>
                <a:cs typeface="Menlo"/>
              </a:rPr>
              <a:t>facts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199" y="2377440"/>
            <a:ext cx="1627632" cy="420624"/>
          </a:xfrm>
          <a:prstGeom prst="roundRect">
            <a:avLst>
              <a:gd name="adj" fmla="val 50000"/>
            </a:avLst>
          </a:prstGeom>
          <a:solidFill>
            <a:srgbClr val="181E2D"/>
          </a:solidFill>
          <a:ln w="12700">
            <a:solidFill>
              <a:srgbClr val="4D9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 i="0">
                <a:solidFill>
                  <a:srgbClr val="4D9DFF"/>
                </a:solidFill>
                <a:latin typeface="Menlo"/>
                <a:ea typeface="Menlo"/>
                <a:cs typeface="Menlo"/>
              </a:rPr>
              <a:t>episodes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2944368"/>
            <a:ext cx="1627632" cy="420624"/>
          </a:xfrm>
          <a:prstGeom prst="roundRect">
            <a:avLst>
              <a:gd name="adj" fmla="val 50000"/>
            </a:avLst>
          </a:prstGeom>
          <a:solidFill>
            <a:srgbClr val="181E2D"/>
          </a:solidFill>
          <a:ln w="12700">
            <a:solidFill>
              <a:srgbClr val="3EC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 i="0">
                <a:solidFill>
                  <a:srgbClr val="3EC03E"/>
                </a:solidFill>
                <a:latin typeface="Menlo"/>
                <a:ea typeface="Menlo"/>
                <a:cs typeface="Menlo"/>
              </a:rPr>
              <a:t>playbook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97480" y="2944368"/>
            <a:ext cx="1627632" cy="420624"/>
          </a:xfrm>
          <a:prstGeom prst="roundRect">
            <a:avLst>
              <a:gd name="adj" fmla="val 50000"/>
            </a:avLst>
          </a:prstGeom>
          <a:solidFill>
            <a:srgbClr val="181E2D"/>
          </a:solidFill>
          <a:ln w="12700">
            <a:solidFill>
              <a:srgbClr val="5FC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 i="0">
                <a:solidFill>
                  <a:srgbClr val="5FC8D8"/>
                </a:solidFill>
                <a:latin typeface="Menlo"/>
                <a:ea typeface="Menlo"/>
                <a:cs typeface="Menlo"/>
              </a:rPr>
              <a:t>principles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2944368"/>
            <a:ext cx="1627632" cy="420624"/>
          </a:xfrm>
          <a:prstGeom prst="roundRect">
            <a:avLst>
              <a:gd name="adj" fmla="val 50000"/>
            </a:avLst>
          </a:prstGeom>
          <a:solidFill>
            <a:srgbClr val="181E2D"/>
          </a:solidFill>
          <a:ln w="12700">
            <a:solidFill>
              <a:srgbClr val="4D9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 i="0">
                <a:solidFill>
                  <a:srgbClr val="4D9DFF"/>
                </a:solidFill>
                <a:latin typeface="Menlo"/>
                <a:ea typeface="Menlo"/>
                <a:cs typeface="Menlo"/>
              </a:rPr>
              <a:t>skills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199" y="2944368"/>
            <a:ext cx="1627632" cy="420624"/>
          </a:xfrm>
          <a:prstGeom prst="roundRect">
            <a:avLst>
              <a:gd name="adj" fmla="val 50000"/>
            </a:avLst>
          </a:prstGeom>
          <a:solidFill>
            <a:srgbClr val="181E2D"/>
          </a:solidFill>
          <a:ln w="12700">
            <a:solidFill>
              <a:srgbClr val="EF83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 i="0">
                <a:solidFill>
                  <a:srgbClr val="EF8383"/>
                </a:solidFill>
                <a:latin typeface="Menlo"/>
                <a:ea typeface="Menlo"/>
                <a:cs typeface="Menlo"/>
              </a:rPr>
              <a:t>constraints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74519" y="3648456"/>
            <a:ext cx="18288" cy="292608"/>
          </a:xfrm>
          <a:prstGeom prst="rect">
            <a:avLst/>
          </a:prstGeom>
          <a:solidFill>
            <a:srgbClr val="6B7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wn Arrow 17"/>
          <p:cNvSpPr/>
          <p:nvPr/>
        </p:nvSpPr>
        <p:spPr>
          <a:xfrm>
            <a:off x="1783079" y="3895344"/>
            <a:ext cx="201168" cy="219456"/>
          </a:xfrm>
          <a:prstGeom prst="downArrow">
            <a:avLst/>
          </a:prstGeom>
          <a:solidFill>
            <a:srgbClr val="6B7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61688" y="3648456"/>
            <a:ext cx="18288" cy="292608"/>
          </a:xfrm>
          <a:prstGeom prst="rect">
            <a:avLst/>
          </a:prstGeom>
          <a:solidFill>
            <a:srgbClr val="6B7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own Arrow 19"/>
          <p:cNvSpPr/>
          <p:nvPr/>
        </p:nvSpPr>
        <p:spPr>
          <a:xfrm>
            <a:off x="4270248" y="3895344"/>
            <a:ext cx="201168" cy="219456"/>
          </a:xfrm>
          <a:prstGeom prst="downArrow">
            <a:avLst/>
          </a:prstGeom>
          <a:solidFill>
            <a:srgbClr val="6B7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76288" y="3648456"/>
            <a:ext cx="18288" cy="292608"/>
          </a:xfrm>
          <a:prstGeom prst="rect">
            <a:avLst/>
          </a:prstGeom>
          <a:solidFill>
            <a:srgbClr val="6B7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own Arrow 21"/>
          <p:cNvSpPr/>
          <p:nvPr/>
        </p:nvSpPr>
        <p:spPr>
          <a:xfrm>
            <a:off x="6784848" y="3895344"/>
            <a:ext cx="201168" cy="219456"/>
          </a:xfrm>
          <a:prstGeom prst="downArrow">
            <a:avLst/>
          </a:prstGeom>
          <a:solidFill>
            <a:srgbClr val="6B7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4169663"/>
            <a:ext cx="7360920" cy="1170432"/>
          </a:xfrm>
          <a:prstGeom prst="roundRect">
            <a:avLst>
              <a:gd name="adj" fmla="val 6000"/>
            </a:avLst>
          </a:prstGeom>
          <a:solidFill>
            <a:srgbClr val="181E2D"/>
          </a:solidFill>
          <a:ln w="12700">
            <a:solidFill>
              <a:srgbClr val="232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2976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A7B8"/>
                </a:solidFill>
                <a:latin typeface="Menlo"/>
                <a:ea typeface="Menlo"/>
                <a:cs typeface="Menlo"/>
              </a:rPr>
              <a:t>adapter 适配层   ~/.hermes/agent-hooks/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562856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8"/>
                </a:solidFill>
                <a:latin typeface="PingFang SC"/>
                <a:ea typeface="PingFang SC"/>
                <a:cs typeface="PingFang SC"/>
              </a:rPr>
              <a:t>Hermes payload → evo 协议翻译 · 全部 fail-open（故障不阻塞主链路）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" y="4901184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181E2D"/>
          </a:solidFill>
          <a:ln w="12700">
            <a:solidFill>
              <a:srgbClr val="4D9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 i="0">
                <a:solidFill>
                  <a:srgbClr val="4D9DFF"/>
                </a:solidFill>
                <a:latin typeface="Menlo"/>
                <a:ea typeface="Menlo"/>
                <a:cs typeface="Menlo"/>
              </a:rPr>
              <a:t>evo-recall.sh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46120" y="4901184"/>
            <a:ext cx="2240280" cy="329184"/>
          </a:xfrm>
          <a:prstGeom prst="roundRect">
            <a:avLst>
              <a:gd name="adj" fmla="val 50000"/>
            </a:avLst>
          </a:prstGeom>
          <a:solidFill>
            <a:srgbClr val="181E2D"/>
          </a:solidFill>
          <a:ln w="12700">
            <a:solidFill>
              <a:srgbClr val="908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 i="0">
                <a:solidFill>
                  <a:srgbClr val="9085E9"/>
                </a:solidFill>
                <a:latin typeface="Menlo"/>
                <a:ea typeface="Menlo"/>
                <a:cs typeface="Menlo"/>
              </a:rPr>
              <a:t>evo-session-end.sh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23560" y="4901184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81E2D"/>
          </a:solidFill>
          <a:ln w="12700">
            <a:solidFill>
              <a:srgbClr val="EF83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 i="0">
                <a:solidFill>
                  <a:srgbClr val="EF8383"/>
                </a:solidFill>
                <a:latin typeface="Menlo"/>
                <a:ea typeface="Menlo"/>
                <a:cs typeface="Menlo"/>
              </a:rPr>
              <a:t>evo-guard.sh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596128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EDF5"/>
                </a:solidFill>
                <a:latin typeface="Menlo"/>
                <a:ea typeface="Menlo"/>
                <a:cs typeface="Menlo"/>
              </a:rPr>
              <a:t>Hermes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92531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688"/>
                </a:solidFill>
                <a:latin typeface="Menlo"/>
                <a:ea typeface="Menlo"/>
                <a:cs typeface="Menlo"/>
              </a:rPr>
              <a:t>config.yaml · hooks 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5596128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EDF5"/>
                </a:solidFill>
                <a:latin typeface="Menlo"/>
                <a:ea typeface="Menlo"/>
                <a:cs typeface="Menlo"/>
              </a:rPr>
              <a:t>Claude Code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92531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688"/>
                </a:solidFill>
                <a:latin typeface="Menlo"/>
                <a:ea typeface="Menlo"/>
                <a:cs typeface="Menlo"/>
              </a:rPr>
              <a:t>settings.json · 同三件套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5532120"/>
            <a:ext cx="7360920" cy="18288"/>
          </a:xfrm>
          <a:prstGeom prst="rect">
            <a:avLst/>
          </a:prstGeom>
          <a:solidFill>
            <a:srgbClr val="232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366760" y="1481328"/>
            <a:ext cx="3136392" cy="1554480"/>
          </a:xfrm>
          <a:prstGeom prst="roundRect">
            <a:avLst>
              <a:gd name="adj" fmla="val 6000"/>
            </a:avLst>
          </a:prstGeom>
          <a:solidFill>
            <a:srgbClr val="181E2D"/>
          </a:solidFill>
          <a:ln w="12700">
            <a:solidFill>
              <a:srgbClr val="232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366760" y="1481328"/>
            <a:ext cx="64008" cy="1554480"/>
          </a:xfrm>
          <a:prstGeom prst="rect">
            <a:avLst/>
          </a:prstGeom>
          <a:solidFill>
            <a:srgbClr val="4D9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22792" y="1627632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8EDF5"/>
                </a:solidFill>
                <a:latin typeface="PingFang SC"/>
                <a:ea typeface="PingFang SC"/>
                <a:cs typeface="PingFang SC"/>
              </a:rPr>
              <a:t>协议唯一 · 适配器换装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22792" y="2011680"/>
            <a:ext cx="2697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7B8"/>
                </a:solidFill>
                <a:latin typeface="PingFang SC"/>
                <a:ea typeface="PingFang SC"/>
                <a:cs typeface="PingFang SC"/>
              </a:rPr>
              <a:t>内核只认 Claude hook 契约；接入新 harness 只需写 3 个 adapter，双端共享同一份经验。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66760" y="3182112"/>
            <a:ext cx="3136392" cy="1554480"/>
          </a:xfrm>
          <a:prstGeom prst="roundRect">
            <a:avLst>
              <a:gd name="adj" fmla="val 6000"/>
            </a:avLst>
          </a:prstGeom>
          <a:solidFill>
            <a:srgbClr val="181E2D"/>
          </a:solidFill>
          <a:ln w="12700">
            <a:solidFill>
              <a:srgbClr val="232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366760" y="3182112"/>
            <a:ext cx="64008" cy="1554480"/>
          </a:xfrm>
          <a:prstGeom prst="rect">
            <a:avLst/>
          </a:prstGeom>
          <a:solidFill>
            <a:srgbClr val="908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22792" y="3328416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8EDF5"/>
                </a:solidFill>
                <a:latin typeface="PingFang SC"/>
                <a:ea typeface="PingFang SC"/>
                <a:cs typeface="PingFang SC"/>
              </a:rPr>
              <a:t>内核无状态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22792" y="3712464"/>
            <a:ext cx="2697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7B8"/>
                </a:solidFill>
                <a:latin typeface="PingFang SC"/>
                <a:ea typeface="PingFang SC"/>
                <a:cs typeface="PingFang SC"/>
              </a:rPr>
              <a:t>零依赖 Node + markdown；git 即备份，也做审计。仓库位置无关。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66760" y="4882896"/>
            <a:ext cx="3136392" cy="1554480"/>
          </a:xfrm>
          <a:prstGeom prst="roundRect">
            <a:avLst>
              <a:gd name="adj" fmla="val 6000"/>
            </a:avLst>
          </a:prstGeom>
          <a:solidFill>
            <a:srgbClr val="181E2D"/>
          </a:solidFill>
          <a:ln w="12700">
            <a:solidFill>
              <a:srgbClr val="232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366760" y="4882896"/>
            <a:ext cx="64008" cy="1554480"/>
          </a:xfrm>
          <a:prstGeom prst="rect">
            <a:avLst/>
          </a:prstGeom>
          <a:solidFill>
            <a:srgbClr val="3EC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22792" y="5029200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8EDF5"/>
                </a:solidFill>
                <a:latin typeface="PingFang SC"/>
                <a:ea typeface="PingFang SC"/>
                <a:cs typeface="PingFang SC"/>
              </a:rPr>
              <a:t>双写通道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22792" y="5413248"/>
            <a:ext cx="2697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7B8"/>
                </a:solidFill>
                <a:latin typeface="PingFang SC"/>
                <a:ea typeface="PingFang SC"/>
                <a:cs typeface="PingFang SC"/>
              </a:rPr>
              <a:t>会话结束双写：git 治理层（可审计）+ gbrain 语义脑（向量检索）。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649224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688"/>
                </a:solidFill>
                <a:latin typeface="Menlo"/>
                <a:ea typeface="Menlo"/>
                <a:cs typeface="Menlo"/>
              </a:rPr>
              <a:t>evo-kernel · 经验内核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61320" y="6492240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688"/>
                </a:solidFill>
                <a:latin typeface="Menlo"/>
                <a:ea typeface="Menlo"/>
                <a:cs typeface="Menlo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688"/>
                </a:solidFill>
                <a:latin typeface="Menlo"/>
                <a:ea typeface="Menlo"/>
                <a:cs typeface="Menlo"/>
              </a:rPr>
              <a:t>RUNTIME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62179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E8EDF5"/>
                </a:solidFill>
                <a:latin typeface="PingFang SC"/>
                <a:ea typeface="PingFang SC"/>
                <a:cs typeface="PingFang SC"/>
              </a:rPr>
              <a:t>三 hook：经验在对话中的实时闭环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98448"/>
            <a:ext cx="475488" cy="45720"/>
          </a:xfrm>
          <a:prstGeom prst="rect">
            <a:avLst/>
          </a:prstGeom>
          <a:solidFill>
            <a:srgbClr val="4D9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688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3447288" cy="3017520"/>
          </a:xfrm>
          <a:prstGeom prst="roundRect">
            <a:avLst>
              <a:gd name="adj" fmla="val 6000"/>
            </a:avLst>
          </a:prstGeom>
          <a:solidFill>
            <a:srgbClr val="181E2D"/>
          </a:solidFill>
          <a:ln w="12700">
            <a:solidFill>
              <a:srgbClr val="232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54480"/>
            <a:ext cx="3447288" cy="82296"/>
          </a:xfrm>
          <a:prstGeom prst="rect">
            <a:avLst/>
          </a:prstGeom>
          <a:solidFill>
            <a:srgbClr val="4D9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D9DFF"/>
                </a:solidFill>
                <a:latin typeface="Menlo"/>
                <a:ea typeface="Menlo"/>
                <a:cs typeface="Menlo"/>
              </a:rPr>
              <a:t>pre_llm_call  → recall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57984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EDF5"/>
                </a:solidFill>
                <a:latin typeface="PingFang SC"/>
                <a:ea typeface="PingFang SC"/>
                <a:cs typeface="PingFang SC"/>
              </a:rPr>
              <a:t>检索注入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2560320"/>
            <a:ext cx="2898648" cy="18288"/>
          </a:xfrm>
          <a:prstGeom prst="rect">
            <a:avLst/>
          </a:prstGeom>
          <a:solidFill>
            <a:srgbClr val="232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724912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7B8"/>
                </a:solidFill>
                <a:latin typeface="PingFang SC"/>
                <a:ea typeface="PingFang SC"/>
                <a:cs typeface="PingFang SC"/>
              </a:rPr>
              <a:t>·  每次 LLM 调用前，按当前任务语义检索经验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310128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7B8"/>
                </a:solidFill>
                <a:latin typeface="PingFang SC"/>
                <a:ea typeface="PingFang SC"/>
                <a:cs typeface="PingFang SC"/>
              </a:rPr>
              <a:t>·  按 triggers / tags 计权，注入上下文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895344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7B8"/>
                </a:solidFill>
                <a:latin typeface="PingFang SC"/>
                <a:ea typeface="PingFang SC"/>
                <a:cs typeface="PingFang SC"/>
              </a:rPr>
              <a:t>·  让新对话「记得」所有历史教训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1554480"/>
            <a:ext cx="3447288" cy="3017520"/>
          </a:xfrm>
          <a:prstGeom prst="roundRect">
            <a:avLst>
              <a:gd name="adj" fmla="val 6000"/>
            </a:avLst>
          </a:prstGeom>
          <a:solidFill>
            <a:srgbClr val="181E2D"/>
          </a:solidFill>
          <a:ln w="12700">
            <a:solidFill>
              <a:srgbClr val="232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0832" y="1554480"/>
            <a:ext cx="3447288" cy="82296"/>
          </a:xfrm>
          <a:prstGeom prst="rect">
            <a:avLst/>
          </a:prstGeom>
          <a:solidFill>
            <a:srgbClr val="908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178308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9085E9"/>
                </a:solidFill>
                <a:latin typeface="Menlo"/>
                <a:ea typeface="Menlo"/>
                <a:cs typeface="Menlo"/>
              </a:rPr>
              <a:t>on_session_end  → session-end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2157984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EDF5"/>
                </a:solidFill>
                <a:latin typeface="PingFang SC"/>
                <a:ea typeface="PingFang SC"/>
                <a:cs typeface="PingFang SC"/>
              </a:rPr>
              <a:t>登记 + 双写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45152" y="2560320"/>
            <a:ext cx="2898648" cy="18288"/>
          </a:xfrm>
          <a:prstGeom prst="rect">
            <a:avLst/>
          </a:prstGeom>
          <a:solidFill>
            <a:srgbClr val="232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45152" y="2724912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7B8"/>
                </a:solidFill>
                <a:latin typeface="PingFang SC"/>
                <a:ea typeface="PingFang SC"/>
                <a:cs typeface="PingFang SC"/>
              </a:rPr>
              <a:t>·  会话结束自动登记 transcript 引用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2" y="3310128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7B8"/>
                </a:solidFill>
                <a:latin typeface="PingFang SC"/>
                <a:ea typeface="PingFang SC"/>
                <a:cs typeface="PingFang SC"/>
              </a:rPr>
              <a:t>·  双写 gbrain 语义脑（put_page + timeline）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5152" y="3895344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7B8"/>
                </a:solidFill>
                <a:latin typeface="PingFang SC"/>
                <a:ea typeface="PingFang SC"/>
                <a:cs typeface="PingFang SC"/>
              </a:rPr>
              <a:t>·  沉淀为可蒸馏的工程素材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55864" y="1554480"/>
            <a:ext cx="3447288" cy="3017520"/>
          </a:xfrm>
          <a:prstGeom prst="roundRect">
            <a:avLst>
              <a:gd name="adj" fmla="val 6000"/>
            </a:avLst>
          </a:prstGeom>
          <a:solidFill>
            <a:srgbClr val="181E2D"/>
          </a:solidFill>
          <a:ln w="12700">
            <a:solidFill>
              <a:srgbClr val="232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55864" y="1554480"/>
            <a:ext cx="3447288" cy="82296"/>
          </a:xfrm>
          <a:prstGeom prst="rect">
            <a:avLst/>
          </a:prstGeom>
          <a:solidFill>
            <a:srgbClr val="EF8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0184" y="178308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F8383"/>
                </a:solidFill>
                <a:latin typeface="Menlo"/>
                <a:ea typeface="Menlo"/>
                <a:cs typeface="Menlo"/>
              </a:rPr>
              <a:t>pre_tool_call  → guard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0184" y="2157984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EDF5"/>
                </a:solidFill>
                <a:latin typeface="PingFang SC"/>
                <a:ea typeface="PingFang SC"/>
                <a:cs typeface="PingFang SC"/>
              </a:rPr>
              <a:t>硬约束拦截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30184" y="2560320"/>
            <a:ext cx="2898648" cy="18288"/>
          </a:xfrm>
          <a:prstGeom prst="rect">
            <a:avLst/>
          </a:prstGeom>
          <a:solidFill>
            <a:srgbClr val="232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4" y="2724912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7B8"/>
                </a:solidFill>
                <a:latin typeface="PingFang SC"/>
                <a:ea typeface="PingFang SC"/>
                <a:cs typeface="PingFang SC"/>
              </a:rPr>
              <a:t>·  工具调用前执行硬约束规则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0184" y="3310128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7B8"/>
                </a:solidFill>
                <a:latin typeface="PingFang SC"/>
                <a:ea typeface="PingFang SC"/>
                <a:cs typeface="PingFang SC"/>
              </a:rPr>
              <a:t>·  命中（如危险 rm -rf）即 deny 阻断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0184" y="3895344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7B8"/>
                </a:solidFill>
                <a:latin typeface="PingFang SC"/>
                <a:ea typeface="PingFang SC"/>
                <a:cs typeface="PingFang SC"/>
              </a:rPr>
              <a:t>·  经验从「建议」升级为「护栏」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892040"/>
            <a:ext cx="10817352" cy="868680"/>
          </a:xfrm>
          <a:prstGeom prst="roundRect">
            <a:avLst>
              <a:gd name="adj" fmla="val 6000"/>
            </a:avLst>
          </a:prstGeom>
          <a:solidFill>
            <a:srgbClr val="141824"/>
          </a:solidFill>
          <a:ln w="12700">
            <a:solidFill>
              <a:srgbClr val="232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047488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03E"/>
                </a:solidFill>
                <a:latin typeface="Menlo"/>
                <a:ea typeface="Menlo"/>
                <a:cs typeface="Menlo"/>
              </a:rPr>
              <a:t>I1 · fail-open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5321808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7B8"/>
                </a:solidFill>
                <a:latin typeface="PingFang SC"/>
                <a:ea typeface="PingFang SC"/>
                <a:cs typeface="PingFang SC"/>
              </a:rPr>
              <a:t>任何 hook / adapter 故障都不阻塞 harness 主链路 —— 经验系统是「增强」而非「依赖」，主链路永远可跑。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649224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688"/>
                </a:solidFill>
                <a:latin typeface="Menlo"/>
                <a:ea typeface="Menlo"/>
                <a:cs typeface="Menlo"/>
              </a:rPr>
              <a:t>evo-kernel · 经验内核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61320" y="6492240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688"/>
                </a:solidFill>
                <a:latin typeface="Menlo"/>
                <a:ea typeface="Menlo"/>
                <a:cs typeface="Menlo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688"/>
                </a:solidFill>
                <a:latin typeface="Menlo"/>
                <a:ea typeface="Menlo"/>
                <a:cs typeface="Menlo"/>
              </a:rPr>
              <a:t>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62179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E8EDF5"/>
                </a:solidFill>
                <a:latin typeface="PingFang SC"/>
                <a:ea typeface="PingFang SC"/>
                <a:cs typeface="PingFang SC"/>
              </a:rPr>
              <a:t>目录即状态机：条目的位置 = 条目的状态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98448"/>
            <a:ext cx="475488" cy="45720"/>
          </a:xfrm>
          <a:prstGeom prst="rect">
            <a:avLst/>
          </a:prstGeom>
          <a:solidFill>
            <a:srgbClr val="4D9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688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17904"/>
            <a:ext cx="6035040" cy="4480560"/>
          </a:xfrm>
          <a:prstGeom prst="roundRect">
            <a:avLst>
              <a:gd name="adj" fmla="val 6000"/>
            </a:avLst>
          </a:prstGeom>
          <a:solidFill>
            <a:srgbClr val="141824"/>
          </a:solidFill>
          <a:ln w="12700">
            <a:solidFill>
              <a:srgbClr val="232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8249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8EDF5"/>
                </a:solidFill>
                <a:latin typeface="PingFang SC"/>
                <a:ea typeface="PingFang SC"/>
                <a:cs typeface="PingFang SC"/>
              </a:rPr>
              <a:t>目录角色与注入资格（I2 守恒）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048256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181E2D"/>
          </a:solidFill>
          <a:ln w="12700">
            <a:solidFill>
              <a:srgbClr val="6B7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 i="0">
                <a:solidFill>
                  <a:srgbClr val="6B7688"/>
                </a:solidFill>
                <a:latin typeface="Menlo"/>
                <a:ea typeface="Menlo"/>
                <a:cs typeface="Menlo"/>
              </a:rPr>
              <a:t>inbox/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2048256"/>
            <a:ext cx="2468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7B8"/>
                </a:solidFill>
                <a:latin typeface="PingFang SC"/>
                <a:ea typeface="PingFang SC"/>
                <a:cs typeface="PingFang SC"/>
              </a:rPr>
              <a:t>capture 暂存 + 会话登记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2048256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8383"/>
                </a:solidFill>
                <a:latin typeface="PingFang SC"/>
                <a:ea typeface="PingFang SC"/>
                <a:cs typeface="PingFang SC"/>
              </a:rPr>
              <a:t>永不注入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2473452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181E2D"/>
          </a:solidFill>
          <a:ln w="12700">
            <a:solidFill>
              <a:srgbClr val="6B7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 i="0">
                <a:solidFill>
                  <a:srgbClr val="6B7688"/>
                </a:solidFill>
                <a:latin typeface="Menlo"/>
                <a:ea typeface="Menlo"/>
                <a:cs typeface="Menlo"/>
              </a:rPr>
              <a:t>lessons/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7168" y="2473452"/>
            <a:ext cx="2468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7B8"/>
                </a:solidFill>
                <a:latin typeface="PingFang SC"/>
                <a:ea typeface="PingFang SC"/>
                <a:cs typeface="PingFang SC"/>
              </a:rPr>
              <a:t>candidate 经验暂存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2473452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8383"/>
                </a:solidFill>
                <a:latin typeface="PingFang SC"/>
                <a:ea typeface="PingFang SC"/>
                <a:cs typeface="PingFang SC"/>
              </a:rPr>
              <a:t>永不注入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28986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181E2D"/>
          </a:solidFill>
          <a:ln w="12700">
            <a:solidFill>
              <a:srgbClr val="4D9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 i="0">
                <a:solidFill>
                  <a:srgbClr val="4D9DFF"/>
                </a:solidFill>
                <a:latin typeface="Menlo"/>
                <a:ea typeface="Menlo"/>
                <a:cs typeface="Menlo"/>
              </a:rPr>
              <a:t>facts/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87168" y="2898648"/>
            <a:ext cx="2468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7B8"/>
                </a:solidFill>
                <a:latin typeface="PingFang SC"/>
                <a:ea typeface="PingFang SC"/>
                <a:cs typeface="PingFang SC"/>
              </a:rPr>
              <a:t>语义记忆 · 事实/偏好/环境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2898648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EC03E"/>
                </a:solidFill>
                <a:latin typeface="PingFang SC"/>
                <a:ea typeface="PingFang SC"/>
                <a:cs typeface="PingFang SC"/>
              </a:rPr>
              <a:t>注入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3323844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181E2D"/>
          </a:solidFill>
          <a:ln w="12700">
            <a:solidFill>
              <a:srgbClr val="4D9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 i="0">
                <a:solidFill>
                  <a:srgbClr val="4D9DFF"/>
                </a:solidFill>
                <a:latin typeface="Menlo"/>
                <a:ea typeface="Menlo"/>
                <a:cs typeface="Menlo"/>
              </a:rPr>
              <a:t>episodes/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87168" y="3323844"/>
            <a:ext cx="2468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7B8"/>
                </a:solidFill>
                <a:latin typeface="PingFang SC"/>
                <a:ea typeface="PingFang SC"/>
                <a:cs typeface="PingFang SC"/>
              </a:rPr>
              <a:t>情景记忆 · 一次任务一份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3323844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EC03E"/>
                </a:solidFill>
                <a:latin typeface="PingFang SC"/>
                <a:ea typeface="PingFang SC"/>
                <a:cs typeface="PingFang SC"/>
              </a:rPr>
              <a:t>注入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3749039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181E2D"/>
          </a:solidFill>
          <a:ln w="12700">
            <a:solidFill>
              <a:srgbClr val="4D9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 i="0">
                <a:solidFill>
                  <a:srgbClr val="4D9DFF"/>
                </a:solidFill>
                <a:latin typeface="Menlo"/>
                <a:ea typeface="Menlo"/>
                <a:cs typeface="Menlo"/>
              </a:rPr>
              <a:t>playbook/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87168" y="3749039"/>
            <a:ext cx="2468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7B8"/>
                </a:solidFill>
                <a:latin typeface="PingFang SC"/>
                <a:ea typeface="PingFang SC"/>
                <a:cs typeface="PingFang SC"/>
              </a:rPr>
              <a:t>策略库 · 原子 bullet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3749039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EC03E"/>
                </a:solidFill>
                <a:latin typeface="PingFang SC"/>
                <a:ea typeface="PingFang SC"/>
                <a:cs typeface="PingFang SC"/>
              </a:rPr>
              <a:t>注入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" y="4174235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181E2D"/>
          </a:solidFill>
          <a:ln w="12700">
            <a:solidFill>
              <a:srgbClr val="4D9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 i="0">
                <a:solidFill>
                  <a:srgbClr val="4D9DFF"/>
                </a:solidFill>
                <a:latin typeface="Menlo"/>
                <a:ea typeface="Menlo"/>
                <a:cs typeface="Menlo"/>
              </a:rPr>
              <a:t>principles/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87168" y="4174235"/>
            <a:ext cx="2468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7B8"/>
                </a:solidFill>
                <a:latin typeface="PingFang SC"/>
                <a:ea typeface="PingFang SC"/>
                <a:cs typeface="PingFang SC"/>
              </a:rPr>
              <a:t>原则 · 跨域普适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4174235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EC03E"/>
                </a:solidFill>
                <a:latin typeface="PingFang SC"/>
                <a:ea typeface="PingFang SC"/>
                <a:cs typeface="PingFang SC"/>
              </a:rPr>
              <a:t>注入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" y="4599431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181E2D"/>
          </a:solidFill>
          <a:ln w="12700">
            <a:solidFill>
              <a:srgbClr val="4D9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 i="0">
                <a:solidFill>
                  <a:srgbClr val="4D9DFF"/>
                </a:solidFill>
                <a:latin typeface="Menlo"/>
                <a:ea typeface="Menlo"/>
                <a:cs typeface="Menlo"/>
              </a:rPr>
              <a:t>skills/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87168" y="4599431"/>
            <a:ext cx="2468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7B8"/>
                </a:solidFill>
                <a:latin typeface="PingFang SC"/>
                <a:ea typeface="PingFang SC"/>
                <a:cs typeface="PingFang SC"/>
              </a:rPr>
              <a:t>程序记忆 · SKILL.md 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4599431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EC03E"/>
                </a:solidFill>
                <a:latin typeface="PingFang SC"/>
                <a:ea typeface="PingFang SC"/>
                <a:cs typeface="PingFang SC"/>
              </a:rPr>
              <a:t>skill 注入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20" y="5024627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181E2D"/>
          </a:solidFill>
          <a:ln w="12700">
            <a:solidFill>
              <a:srgbClr val="4D9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 i="0">
                <a:solidFill>
                  <a:srgbClr val="4D9DFF"/>
                </a:solidFill>
                <a:latin typeface="Menlo"/>
                <a:ea typeface="Menlo"/>
                <a:cs typeface="Menlo"/>
              </a:rPr>
              <a:t>constraints/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87168" y="5024627"/>
            <a:ext cx="2468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7B8"/>
                </a:solidFill>
                <a:latin typeface="PingFang SC"/>
                <a:ea typeface="PingFang SC"/>
                <a:cs typeface="PingFang SC"/>
              </a:rPr>
              <a:t>硬约束 · guard 执行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5024627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8383"/>
                </a:solidFill>
                <a:latin typeface="PingFang SC"/>
                <a:ea typeface="PingFang SC"/>
                <a:cs typeface="PingFang SC"/>
              </a:rPr>
              <a:t>实时拦截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0120" y="5449823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181E2D"/>
          </a:solidFill>
          <a:ln w="12700">
            <a:solidFill>
              <a:srgbClr val="6B7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 i="0">
                <a:solidFill>
                  <a:srgbClr val="6B7688"/>
                </a:solidFill>
                <a:latin typeface="Menlo"/>
                <a:ea typeface="Menlo"/>
                <a:cs typeface="Menlo"/>
              </a:rPr>
              <a:t>archive/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87168" y="5449823"/>
            <a:ext cx="2468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7B8"/>
                </a:solidFill>
                <a:latin typeface="PingFang SC"/>
                <a:ea typeface="PingFang SC"/>
                <a:cs typeface="PingFang SC"/>
              </a:rPr>
              <a:t>退役/固化存档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74920" y="5449823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8383"/>
                </a:solidFill>
                <a:latin typeface="PingFang SC"/>
                <a:ea typeface="PingFang SC"/>
                <a:cs typeface="PingFang SC"/>
              </a:rPr>
              <a:t>不检索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95160" y="1517904"/>
            <a:ext cx="4507992" cy="4480560"/>
          </a:xfrm>
          <a:prstGeom prst="roundRect">
            <a:avLst>
              <a:gd name="adj" fmla="val 6000"/>
            </a:avLst>
          </a:prstGeom>
          <a:solidFill>
            <a:srgbClr val="141824"/>
          </a:solidFill>
          <a:ln w="12700">
            <a:solidFill>
              <a:srgbClr val="232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69480" y="1682496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8EDF5"/>
                </a:solidFill>
                <a:latin typeface="PingFang SC"/>
                <a:ea typeface="PingFang SC"/>
                <a:cs typeface="PingFang SC"/>
              </a:rPr>
              <a:t>状态迁移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2029968"/>
            <a:ext cx="3931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688"/>
                </a:solidFill>
                <a:latin typeface="Menlo"/>
                <a:ea typeface="Menlo"/>
                <a:cs typeface="Menlo"/>
              </a:rPr>
              <a:t>inbox  </a:t>
            </a:r>
            <a:r>
              <a:rPr sz="1200" b="1" i="0">
                <a:solidFill>
                  <a:srgbClr val="4D9DFF"/>
                </a:solidFill>
                <a:latin typeface="Menlo"/>
                <a:ea typeface="Menlo"/>
                <a:cs typeface="Menlo"/>
              </a:rPr>
              <a:t>→ curate 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480" y="2359152"/>
            <a:ext cx="3931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8EDF5"/>
                </a:solidFill>
                <a:latin typeface="PingFang SC"/>
                <a:ea typeface="PingFang SC"/>
                <a:cs typeface="PingFang SC"/>
              </a:rPr>
              <a:t>facts / episodes / playbook / principles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9480" y="2651760"/>
            <a:ext cx="3931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8"/>
                </a:solidFill>
                <a:latin typeface="PingFang SC"/>
                <a:ea typeface="PingFang SC"/>
                <a:cs typeface="PingFang SC"/>
              </a:rPr>
              <a:t>人审唯一入库口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3108960"/>
            <a:ext cx="3931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688"/>
                </a:solidFill>
                <a:latin typeface="Menlo"/>
                <a:ea typeface="Menlo"/>
                <a:cs typeface="Menlo"/>
              </a:rPr>
              <a:t>validated  </a:t>
            </a:r>
            <a:r>
              <a:rPr sz="1200" b="1" i="0">
                <a:solidFill>
                  <a:srgbClr val="4D9DFF"/>
                </a:solidFill>
                <a:latin typeface="Menlo"/>
                <a:ea typeface="Menlo"/>
                <a:cs typeface="Menlo"/>
              </a:rPr>
              <a:t>→ solidify 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69480" y="3438144"/>
            <a:ext cx="3931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8EDF5"/>
                </a:solidFill>
                <a:latin typeface="PingFang SC"/>
                <a:ea typeface="PingFang SC"/>
                <a:cs typeface="PingFang SC"/>
              </a:rPr>
              <a:t>skills（程序记忆）/ constraints（硬约束）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69480" y="3730752"/>
            <a:ext cx="3931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8"/>
                </a:solidFill>
                <a:latin typeface="PingFang SC"/>
                <a:ea typeface="PingFang SC"/>
                <a:cs typeface="PingFang SC"/>
              </a:rPr>
              <a:t>反复验证后固化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69480" y="4187952"/>
            <a:ext cx="3931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688"/>
                </a:solidFill>
                <a:latin typeface="Menlo"/>
                <a:ea typeface="Menlo"/>
                <a:cs typeface="Menlo"/>
              </a:rPr>
              <a:t>validated  </a:t>
            </a:r>
            <a:r>
              <a:rPr sz="1200" b="1" i="0">
                <a:solidFill>
                  <a:srgbClr val="4D9DFF"/>
                </a:solidFill>
                <a:latin typeface="Menlo"/>
                <a:ea typeface="Menlo"/>
                <a:cs typeface="Menlo"/>
              </a:rPr>
              <a:t>→ demote 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69480" y="4517136"/>
            <a:ext cx="3931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8EDF5"/>
                </a:solidFill>
                <a:latin typeface="PingFang SC"/>
                <a:ea typeface="PingFang SC"/>
                <a:cs typeface="PingFang SC"/>
              </a:rPr>
              <a:t>archive（退役）/ lessons（回炉）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69480" y="4809744"/>
            <a:ext cx="3931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8"/>
                </a:solidFill>
                <a:latin typeface="PingFang SC"/>
                <a:ea typeface="PingFang SC"/>
                <a:cs typeface="PingFang SC"/>
              </a:rPr>
              <a:t>失效条目退出注入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69480" y="5303520"/>
            <a:ext cx="3931920" cy="18288"/>
          </a:xfrm>
          <a:prstGeom prst="rect">
            <a:avLst/>
          </a:prstGeom>
          <a:solidFill>
            <a:srgbClr val="232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69480" y="5431536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B53C"/>
                </a:solidFill>
                <a:latin typeface="PingFang SC"/>
                <a:ea typeface="PingFang SC"/>
                <a:cs typeface="PingFang SC"/>
              </a:rPr>
              <a:t>I3 · 人审前置  —  curate 是唯一入库口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649224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688"/>
                </a:solidFill>
                <a:latin typeface="Menlo"/>
                <a:ea typeface="Menlo"/>
                <a:cs typeface="Menlo"/>
              </a:rPr>
              <a:t>evo-kernel · 经验内核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61320" y="6492240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688"/>
                </a:solidFill>
                <a:latin typeface="Menlo"/>
                <a:ea typeface="Menlo"/>
                <a:cs typeface="Menlo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688"/>
                </a:solidFill>
                <a:latin typeface="Menlo"/>
                <a:ea typeface="Menlo"/>
                <a:cs typeface="Menlo"/>
              </a:rPr>
              <a:t>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62179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E8EDF5"/>
                </a:solidFill>
                <a:latin typeface="PingFang SC"/>
                <a:ea typeface="PingFang SC"/>
                <a:cs typeface="PingFang SC"/>
              </a:rPr>
              <a:t>一条经验的完整旅程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98448"/>
            <a:ext cx="475488" cy="45720"/>
          </a:xfrm>
          <a:prstGeom prst="rect">
            <a:avLst/>
          </a:prstGeom>
          <a:solidFill>
            <a:srgbClr val="4D9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688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6" name="Chevron 5"/>
          <p:cNvSpPr/>
          <p:nvPr/>
        </p:nvSpPr>
        <p:spPr>
          <a:xfrm>
            <a:off x="502920" y="1645920"/>
            <a:ext cx="1481328" cy="1417320"/>
          </a:xfrm>
          <a:prstGeom prst="chevron">
            <a:avLst/>
          </a:prstGeom>
          <a:solidFill>
            <a:srgbClr val="202B42"/>
          </a:solidFill>
          <a:ln w="12700">
            <a:solidFill>
              <a:srgbClr val="232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" y="1956816"/>
            <a:ext cx="11155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8EDF5"/>
                </a:solidFill>
                <a:latin typeface="PingFang SC"/>
                <a:ea typeface="PingFang SC"/>
                <a:cs typeface="PingFang SC"/>
              </a:rPr>
              <a:t>捕获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2395728"/>
            <a:ext cx="11155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7B8"/>
                </a:solidFill>
                <a:latin typeface="PingFang SC"/>
                <a:ea typeface="PingFang SC"/>
                <a:cs typeface="PingFang SC"/>
              </a:rPr>
              <a:t>零判断入口</a:t>
            </a:r>
          </a:p>
        </p:txBody>
      </p:sp>
      <p:sp>
        <p:nvSpPr>
          <p:cNvPr id="9" name="Chevron 8"/>
          <p:cNvSpPr/>
          <p:nvPr/>
        </p:nvSpPr>
        <p:spPr>
          <a:xfrm>
            <a:off x="2130552" y="1645920"/>
            <a:ext cx="1481328" cy="1417320"/>
          </a:xfrm>
          <a:prstGeom prst="chevron">
            <a:avLst/>
          </a:prstGeom>
          <a:solidFill>
            <a:srgbClr val="202B42"/>
          </a:solidFill>
          <a:ln w="12700">
            <a:solidFill>
              <a:srgbClr val="232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58568" y="1956816"/>
            <a:ext cx="11155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8EDF5"/>
                </a:solidFill>
                <a:latin typeface="PingFang SC"/>
                <a:ea typeface="PingFang SC"/>
                <a:cs typeface="PingFang SC"/>
              </a:rPr>
              <a:t>登记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8568" y="2395728"/>
            <a:ext cx="11155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7B8"/>
                </a:solidFill>
                <a:latin typeface="PingFang SC"/>
                <a:ea typeface="PingFang SC"/>
                <a:cs typeface="PingFang SC"/>
              </a:rPr>
              <a:t>自动登记会话</a:t>
            </a:r>
          </a:p>
        </p:txBody>
      </p:sp>
      <p:sp>
        <p:nvSpPr>
          <p:cNvPr id="12" name="Chevron 11"/>
          <p:cNvSpPr/>
          <p:nvPr/>
        </p:nvSpPr>
        <p:spPr>
          <a:xfrm>
            <a:off x="3758184" y="1645920"/>
            <a:ext cx="1481328" cy="1417320"/>
          </a:xfrm>
          <a:prstGeom prst="chevron">
            <a:avLst/>
          </a:prstGeom>
          <a:solidFill>
            <a:srgbClr val="202B42"/>
          </a:solidFill>
          <a:ln w="12700">
            <a:solidFill>
              <a:srgbClr val="232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1956816"/>
            <a:ext cx="11155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8EDF5"/>
                </a:solidFill>
                <a:latin typeface="PingFang SC"/>
                <a:ea typeface="PingFang SC"/>
                <a:cs typeface="PingFang SC"/>
              </a:rPr>
              <a:t>蒸馏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2395728"/>
            <a:ext cx="11155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7B8"/>
                </a:solidFill>
                <a:latin typeface="PingFang SC"/>
                <a:ea typeface="PingFang SC"/>
                <a:cs typeface="PingFang SC"/>
              </a:rPr>
              <a:t>切硬证据</a:t>
            </a:r>
          </a:p>
        </p:txBody>
      </p:sp>
      <p:sp>
        <p:nvSpPr>
          <p:cNvPr id="15" name="Chevron 14"/>
          <p:cNvSpPr/>
          <p:nvPr/>
        </p:nvSpPr>
        <p:spPr>
          <a:xfrm>
            <a:off x="5385816" y="1645920"/>
            <a:ext cx="1481328" cy="1417320"/>
          </a:xfrm>
          <a:prstGeom prst="chevron">
            <a:avLst/>
          </a:prstGeom>
          <a:solidFill>
            <a:srgbClr val="202B42"/>
          </a:solidFill>
          <a:ln w="12700">
            <a:solidFill>
              <a:srgbClr val="232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13831" y="1956816"/>
            <a:ext cx="11155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8EDF5"/>
                </a:solidFill>
                <a:latin typeface="PingFang SC"/>
                <a:ea typeface="PingFang SC"/>
                <a:cs typeface="PingFang SC"/>
              </a:rPr>
              <a:t>人审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13831" y="2395728"/>
            <a:ext cx="11155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7B8"/>
                </a:solidFill>
                <a:latin typeface="PingFang SC"/>
                <a:ea typeface="PingFang SC"/>
                <a:cs typeface="PingFang SC"/>
              </a:rPr>
              <a:t>唯一入库口</a:t>
            </a:r>
          </a:p>
        </p:txBody>
      </p:sp>
      <p:sp>
        <p:nvSpPr>
          <p:cNvPr id="18" name="Chevron 17"/>
          <p:cNvSpPr/>
          <p:nvPr/>
        </p:nvSpPr>
        <p:spPr>
          <a:xfrm>
            <a:off x="7013448" y="1645920"/>
            <a:ext cx="1481328" cy="1417320"/>
          </a:xfrm>
          <a:prstGeom prst="chevron">
            <a:avLst/>
          </a:prstGeom>
          <a:solidFill>
            <a:srgbClr val="202B42"/>
          </a:solidFill>
          <a:ln w="12700">
            <a:solidFill>
              <a:srgbClr val="232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41464" y="1956816"/>
            <a:ext cx="11155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8EDF5"/>
                </a:solidFill>
                <a:latin typeface="PingFang SC"/>
                <a:ea typeface="PingFang SC"/>
                <a:cs typeface="PingFang SC"/>
              </a:rPr>
              <a:t>注入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41464" y="2395728"/>
            <a:ext cx="11155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7B8"/>
                </a:solidFill>
                <a:latin typeface="PingFang SC"/>
                <a:ea typeface="PingFang SC"/>
                <a:cs typeface="PingFang SC"/>
              </a:rPr>
              <a:t>动手前在场</a:t>
            </a:r>
          </a:p>
        </p:txBody>
      </p:sp>
      <p:sp>
        <p:nvSpPr>
          <p:cNvPr id="21" name="Chevron 20"/>
          <p:cNvSpPr/>
          <p:nvPr/>
        </p:nvSpPr>
        <p:spPr>
          <a:xfrm>
            <a:off x="8641080" y="1645920"/>
            <a:ext cx="1481328" cy="1417320"/>
          </a:xfrm>
          <a:prstGeom prst="chevron">
            <a:avLst/>
          </a:prstGeom>
          <a:solidFill>
            <a:srgbClr val="202B42"/>
          </a:solidFill>
          <a:ln w="12700">
            <a:solidFill>
              <a:srgbClr val="232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69096" y="1956816"/>
            <a:ext cx="11155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8EDF5"/>
                </a:solidFill>
                <a:latin typeface="PingFang SC"/>
                <a:ea typeface="PingFang SC"/>
                <a:cs typeface="PingFang SC"/>
              </a:rPr>
              <a:t>验证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69096" y="2395728"/>
            <a:ext cx="11155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7B8"/>
                </a:solidFill>
                <a:latin typeface="PingFang SC"/>
                <a:ea typeface="PingFang SC"/>
                <a:cs typeface="PingFang SC"/>
              </a:rPr>
              <a:t>对账回填</a:t>
            </a:r>
          </a:p>
        </p:txBody>
      </p:sp>
      <p:sp>
        <p:nvSpPr>
          <p:cNvPr id="24" name="Chevron 23"/>
          <p:cNvSpPr/>
          <p:nvPr/>
        </p:nvSpPr>
        <p:spPr>
          <a:xfrm>
            <a:off x="10268712" y="1645920"/>
            <a:ext cx="1481328" cy="1417320"/>
          </a:xfrm>
          <a:prstGeom prst="chevron">
            <a:avLst/>
          </a:prstGeom>
          <a:solidFill>
            <a:srgbClr val="202B42"/>
          </a:solidFill>
          <a:ln w="12700">
            <a:solidFill>
              <a:srgbClr val="232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96728" y="1956816"/>
            <a:ext cx="11155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8EDF5"/>
                </a:solidFill>
                <a:latin typeface="PingFang SC"/>
                <a:ea typeface="PingFang SC"/>
                <a:cs typeface="PingFang SC"/>
              </a:rPr>
              <a:t>固化/退役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96728" y="2395728"/>
            <a:ext cx="11155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7B8"/>
                </a:solidFill>
                <a:latin typeface="PingFang SC"/>
                <a:ea typeface="PingFang SC"/>
                <a:cs typeface="PingFang SC"/>
              </a:rPr>
              <a:t>skill / hook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3520440"/>
            <a:ext cx="2606040" cy="960120"/>
          </a:xfrm>
          <a:prstGeom prst="roundRect">
            <a:avLst>
              <a:gd name="adj" fmla="val 6000"/>
            </a:avLst>
          </a:prstGeom>
          <a:solidFill>
            <a:srgbClr val="181E2D"/>
          </a:solidFill>
          <a:ln w="12700">
            <a:solidFill>
              <a:srgbClr val="232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65760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EC03E"/>
                </a:solidFill>
                <a:latin typeface="PingFang SC"/>
                <a:ea typeface="PingFang SC"/>
                <a:cs typeface="PingFang SC"/>
              </a:rPr>
              <a:t>I1 · fail-open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950208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8"/>
                </a:solidFill>
                <a:latin typeface="PingFang SC"/>
                <a:ea typeface="PingFang SC"/>
                <a:cs typeface="PingFang SC"/>
              </a:rPr>
              <a:t>故障不阻塞主链路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29000" y="3520440"/>
            <a:ext cx="2606040" cy="960120"/>
          </a:xfrm>
          <a:prstGeom prst="roundRect">
            <a:avLst>
              <a:gd name="adj" fmla="val 6000"/>
            </a:avLst>
          </a:prstGeom>
          <a:solidFill>
            <a:srgbClr val="181E2D"/>
          </a:solidFill>
          <a:ln w="12700">
            <a:solidFill>
              <a:srgbClr val="232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0" y="365760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D9DFF"/>
                </a:solidFill>
                <a:latin typeface="PingFang SC"/>
                <a:ea typeface="PingFang SC"/>
                <a:cs typeface="PingFang SC"/>
              </a:rPr>
              <a:t>I2 · 注入守恒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3950208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8"/>
                </a:solidFill>
                <a:latin typeface="PingFang SC"/>
                <a:ea typeface="PingFang SC"/>
                <a:cs typeface="PingFang SC"/>
              </a:rPr>
              <a:t>未审条目永不注入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3520440"/>
            <a:ext cx="2606040" cy="960120"/>
          </a:xfrm>
          <a:prstGeom prst="roundRect">
            <a:avLst>
              <a:gd name="adj" fmla="val 6000"/>
            </a:avLst>
          </a:prstGeom>
          <a:solidFill>
            <a:srgbClr val="181E2D"/>
          </a:solidFill>
          <a:ln w="12700">
            <a:solidFill>
              <a:srgbClr val="232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65760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0B53C"/>
                </a:solidFill>
                <a:latin typeface="PingFang SC"/>
                <a:ea typeface="PingFang SC"/>
                <a:cs typeface="PingFang SC"/>
              </a:rPr>
              <a:t>I3 · 人审前置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950208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8"/>
                </a:solidFill>
                <a:latin typeface="PingFang SC"/>
                <a:ea typeface="PingFang SC"/>
                <a:cs typeface="PingFang SC"/>
              </a:rPr>
              <a:t>curate 是唯一入库口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15400" y="3520440"/>
            <a:ext cx="2606040" cy="960120"/>
          </a:xfrm>
          <a:prstGeom prst="roundRect">
            <a:avLst>
              <a:gd name="adj" fmla="val 6000"/>
            </a:avLst>
          </a:prstGeom>
          <a:solidFill>
            <a:srgbClr val="181E2D"/>
          </a:solidFill>
          <a:ln w="12700">
            <a:solidFill>
              <a:srgbClr val="232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0" y="365760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9085E9"/>
                </a:solidFill>
                <a:latin typeface="PingFang SC"/>
                <a:ea typeface="PingFang SC"/>
                <a:cs typeface="PingFang SC"/>
              </a:rPr>
              <a:t>I4 · 计数对账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3950208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8"/>
                </a:solidFill>
                <a:latin typeface="PingFang SC"/>
                <a:ea typeface="PingFang SC"/>
                <a:cs typeface="PingFang SC"/>
              </a:rPr>
              <a:t>helpful/harmful 单点回填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498348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EDF5"/>
                </a:solidFill>
                <a:latin typeface="PingFang SC"/>
                <a:ea typeface="PingFang SC"/>
                <a:cs typeface="PingFang SC"/>
              </a:rPr>
              <a:t>为什么有效：条目不随会话蒸发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530352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7B8"/>
                </a:solidFill>
                <a:latin typeface="PingFang SC"/>
                <a:ea typeface="PingFang SC"/>
                <a:cs typeface="PingFang SC"/>
              </a:rPr>
              <a:t>经验以「候选 → 验证 → 固化」递进；验证靠实战计数（helpful/harmful），差经验被审计与退役，库里长期留存的都是经实战验证的结论。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649224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688"/>
                </a:solidFill>
                <a:latin typeface="Menlo"/>
                <a:ea typeface="Menlo"/>
                <a:cs typeface="Menlo"/>
              </a:rPr>
              <a:t>evo-kernel · 经验内核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61320" y="6492240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688"/>
                </a:solidFill>
                <a:latin typeface="Menlo"/>
                <a:ea typeface="Menlo"/>
                <a:cs typeface="Menlo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688"/>
                </a:solidFill>
                <a:latin typeface="Menlo"/>
                <a:ea typeface="Menlo"/>
                <a:cs typeface="Menlo"/>
              </a:rPr>
              <a:t>CAPABILITY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62179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E8EDF5"/>
                </a:solidFill>
                <a:latin typeface="PingFang SC"/>
                <a:ea typeface="PingFang SC"/>
                <a:cs typeface="PingFang SC"/>
              </a:rPr>
              <a:t>六类记忆：工程能力的沉淀载体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98448"/>
            <a:ext cx="475488" cy="45720"/>
          </a:xfrm>
          <a:prstGeom prst="rect">
            <a:avLst/>
          </a:prstGeom>
          <a:solidFill>
            <a:srgbClr val="4D9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688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3447288" cy="2103120"/>
          </a:xfrm>
          <a:prstGeom prst="roundRect">
            <a:avLst>
              <a:gd name="adj" fmla="val 6000"/>
            </a:avLst>
          </a:prstGeom>
          <a:solidFill>
            <a:srgbClr val="181E2D"/>
          </a:solidFill>
          <a:ln w="12700">
            <a:solidFill>
              <a:srgbClr val="232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54480"/>
            <a:ext cx="3447288" cy="73152"/>
          </a:xfrm>
          <a:prstGeom prst="rect">
            <a:avLst/>
          </a:prstGeom>
          <a:solidFill>
            <a:srgbClr val="4D9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5564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D9DFF"/>
                </a:solidFill>
                <a:latin typeface="Menlo"/>
                <a:ea typeface="Menlo"/>
                <a:cs typeface="Menlo"/>
              </a:rPr>
              <a:t>episodes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737360"/>
            <a:ext cx="1234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8EDF5"/>
                </a:solidFill>
                <a:latin typeface="Menlo"/>
                <a:ea typeface="Menlo"/>
                <a:cs typeface="Menlo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1284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EDF5"/>
                </a:solidFill>
                <a:latin typeface="PingFang SC"/>
                <a:ea typeface="PingFang SC"/>
                <a:cs typeface="PingFang SC"/>
              </a:rPr>
              <a:t>情景记忆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42032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7B8"/>
                </a:solidFill>
                <a:latin typeface="PingFang SC"/>
                <a:ea typeface="PingFang SC"/>
                <a:cs typeface="PingFang SC"/>
              </a:rPr>
              <a:t>一次任务一份工程档案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871215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8"/>
                </a:solidFill>
                <a:latin typeface="PingFang SC"/>
                <a:ea typeface="PingFang SC"/>
                <a:cs typeface="PingFang SC"/>
              </a:rPr>
              <a:t>任务级结论 / 决策 / 证据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554480"/>
            <a:ext cx="3447288" cy="2103120"/>
          </a:xfrm>
          <a:prstGeom prst="roundRect">
            <a:avLst>
              <a:gd name="adj" fmla="val 6000"/>
            </a:avLst>
          </a:prstGeom>
          <a:solidFill>
            <a:srgbClr val="181E2D"/>
          </a:solidFill>
          <a:ln w="12700">
            <a:solidFill>
              <a:srgbClr val="232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554480"/>
            <a:ext cx="3447288" cy="73152"/>
          </a:xfrm>
          <a:prstGeom prst="rect">
            <a:avLst/>
          </a:prstGeom>
          <a:solidFill>
            <a:srgbClr val="908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175564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9085E9"/>
                </a:solidFill>
                <a:latin typeface="Menlo"/>
                <a:ea typeface="Menlo"/>
                <a:cs typeface="Menlo"/>
              </a:rPr>
              <a:t>facts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1737360"/>
            <a:ext cx="1234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8EDF5"/>
                </a:solidFill>
                <a:latin typeface="Menlo"/>
                <a:ea typeface="Menlo"/>
                <a:cs typeface="Menlo"/>
              </a:rPr>
              <a:t>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221284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EDF5"/>
                </a:solidFill>
                <a:latin typeface="PingFang SC"/>
                <a:ea typeface="PingFang SC"/>
                <a:cs typeface="PingFang SC"/>
              </a:rPr>
              <a:t>语义记忆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2542032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7B8"/>
                </a:solidFill>
                <a:latin typeface="PingFang SC"/>
                <a:ea typeface="PingFang SC"/>
                <a:cs typeface="PingFang SC"/>
              </a:rPr>
              <a:t>项目环境与已验证结论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2871215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8"/>
                </a:solidFill>
                <a:latin typeface="PingFang SC"/>
                <a:ea typeface="PingFang SC"/>
                <a:cs typeface="PingFang SC"/>
              </a:rPr>
              <a:t>按 domains 分域沉淀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55864" y="1554480"/>
            <a:ext cx="3447288" cy="2103120"/>
          </a:xfrm>
          <a:prstGeom prst="roundRect">
            <a:avLst>
              <a:gd name="adj" fmla="val 6000"/>
            </a:avLst>
          </a:prstGeom>
          <a:solidFill>
            <a:srgbClr val="181E2D"/>
          </a:solidFill>
          <a:ln w="12700">
            <a:solidFill>
              <a:srgbClr val="232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55864" y="1554480"/>
            <a:ext cx="3447288" cy="73152"/>
          </a:xfrm>
          <a:prstGeom prst="rect">
            <a:avLst/>
          </a:prstGeom>
          <a:solidFill>
            <a:srgbClr val="3EC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0184" y="175564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EC03E"/>
                </a:solidFill>
                <a:latin typeface="Menlo"/>
                <a:ea typeface="Menlo"/>
                <a:cs typeface="Menlo"/>
              </a:rPr>
              <a:t>playbook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21824" y="1737360"/>
            <a:ext cx="1234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8EDF5"/>
                </a:solidFill>
                <a:latin typeface="Menlo"/>
                <a:ea typeface="Menlo"/>
                <a:cs typeface="Menlo"/>
              </a:rPr>
              <a:t>90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4" y="221284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EDF5"/>
                </a:solidFill>
                <a:latin typeface="PingFang SC"/>
                <a:ea typeface="PingFang SC"/>
                <a:cs typeface="PingFang SC"/>
              </a:rPr>
              <a:t>策略库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0184" y="2542032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7B8"/>
                </a:solidFill>
                <a:latin typeface="PingFang SC"/>
                <a:ea typeface="PingFang SC"/>
                <a:cs typeface="PingFang SC"/>
              </a:rPr>
              <a:t>原子操作手册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0184" y="2871215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8"/>
                </a:solidFill>
                <a:latin typeface="PingFang SC"/>
                <a:ea typeface="PingFang SC"/>
                <a:cs typeface="PingFang SC"/>
              </a:rPr>
              <a:t>每条带 3-5 个 triggers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3886200"/>
            <a:ext cx="3447288" cy="2103120"/>
          </a:xfrm>
          <a:prstGeom prst="roundRect">
            <a:avLst>
              <a:gd name="adj" fmla="val 6000"/>
            </a:avLst>
          </a:prstGeom>
          <a:solidFill>
            <a:srgbClr val="181E2D"/>
          </a:solidFill>
          <a:ln w="12700">
            <a:solidFill>
              <a:srgbClr val="232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" y="3886200"/>
            <a:ext cx="3447288" cy="73152"/>
          </a:xfrm>
          <a:prstGeom prst="rect">
            <a:avLst/>
          </a:prstGeom>
          <a:solidFill>
            <a:srgbClr val="5FC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08736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FC8D8"/>
                </a:solidFill>
                <a:latin typeface="Menlo"/>
                <a:ea typeface="Menlo"/>
                <a:cs typeface="Menlo"/>
              </a:rPr>
              <a:t>principles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4069080"/>
            <a:ext cx="1234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8EDF5"/>
                </a:solidFill>
                <a:latin typeface="Menlo"/>
                <a:ea typeface="Menlo"/>
                <a:cs typeface="Menlo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54456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EDF5"/>
                </a:solidFill>
                <a:latin typeface="PingFang SC"/>
                <a:ea typeface="PingFang SC"/>
                <a:cs typeface="PingFang SC"/>
              </a:rPr>
              <a:t>原则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4873752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7B8"/>
                </a:solidFill>
                <a:latin typeface="PingFang SC"/>
                <a:ea typeface="PingFang SC"/>
                <a:cs typeface="PingFang SC"/>
              </a:rPr>
              <a:t>跨域普适开发纪律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202936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8"/>
                </a:solidFill>
                <a:latin typeface="PingFang SC"/>
                <a:ea typeface="PingFang SC"/>
                <a:cs typeface="PingFang SC"/>
              </a:rPr>
              <a:t>方法论层面，适用所有项目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70832" y="3886200"/>
            <a:ext cx="3447288" cy="2103120"/>
          </a:xfrm>
          <a:prstGeom prst="roundRect">
            <a:avLst>
              <a:gd name="adj" fmla="val 6000"/>
            </a:avLst>
          </a:prstGeom>
          <a:solidFill>
            <a:srgbClr val="181E2D"/>
          </a:solidFill>
          <a:ln w="12700">
            <a:solidFill>
              <a:srgbClr val="232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70832" y="3886200"/>
            <a:ext cx="3447288" cy="73152"/>
          </a:xfrm>
          <a:prstGeom prst="rect">
            <a:avLst/>
          </a:prstGeom>
          <a:solidFill>
            <a:srgbClr val="F0B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45152" y="408736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0B53C"/>
                </a:solidFill>
                <a:latin typeface="Menlo"/>
                <a:ea typeface="Menlo"/>
                <a:cs typeface="Menlo"/>
              </a:rPr>
              <a:t>skills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36792" y="4069080"/>
            <a:ext cx="1234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8EDF5"/>
                </a:solidFill>
                <a:latin typeface="Menlo"/>
                <a:ea typeface="Menlo"/>
                <a:cs typeface="Menlo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45152" y="454456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EDF5"/>
                </a:solidFill>
                <a:latin typeface="PingFang SC"/>
                <a:ea typeface="PingFang SC"/>
                <a:cs typeface="PingFang SC"/>
              </a:rPr>
              <a:t>程序记忆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45152" y="4873752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7B8"/>
                </a:solidFill>
                <a:latin typeface="PingFang SC"/>
                <a:ea typeface="PingFang SC"/>
                <a:cs typeface="PingFang SC"/>
              </a:rPr>
              <a:t>SKILL.md 可直接执行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45152" y="5202936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8"/>
                </a:solidFill>
                <a:latin typeface="PingFang SC"/>
                <a:ea typeface="PingFang SC"/>
                <a:cs typeface="PingFang SC"/>
              </a:rPr>
              <a:t>反复验证后固化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55864" y="3886200"/>
            <a:ext cx="3447288" cy="2103120"/>
          </a:xfrm>
          <a:prstGeom prst="roundRect">
            <a:avLst>
              <a:gd name="adj" fmla="val 6000"/>
            </a:avLst>
          </a:prstGeom>
          <a:solidFill>
            <a:srgbClr val="181E2D"/>
          </a:solidFill>
          <a:ln w="12700">
            <a:solidFill>
              <a:srgbClr val="232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55864" y="3886200"/>
            <a:ext cx="3447288" cy="73152"/>
          </a:xfrm>
          <a:prstGeom prst="rect">
            <a:avLst/>
          </a:prstGeom>
          <a:solidFill>
            <a:srgbClr val="EF8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30184" y="408736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F8383"/>
                </a:solidFill>
                <a:latin typeface="Menlo"/>
                <a:ea typeface="Menlo"/>
                <a:cs typeface="Menlo"/>
              </a:rPr>
              <a:t>constraints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21824" y="4069080"/>
            <a:ext cx="1234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8EDF5"/>
                </a:solidFill>
                <a:latin typeface="Menlo"/>
                <a:ea typeface="Menlo"/>
                <a:cs typeface="Menlo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30184" y="454456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EDF5"/>
                </a:solidFill>
                <a:latin typeface="PingFang SC"/>
                <a:ea typeface="PingFang SC"/>
                <a:cs typeface="PingFang SC"/>
              </a:rPr>
              <a:t>硬约束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30184" y="4873752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7B8"/>
                </a:solidFill>
                <a:latin typeface="PingFang SC"/>
                <a:ea typeface="PingFang SC"/>
                <a:cs typeface="PingFang SC"/>
              </a:rPr>
              <a:t>guard 实时拦截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30184" y="5202936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8"/>
                </a:solidFill>
                <a:latin typeface="PingFang SC"/>
                <a:ea typeface="PingFang SC"/>
                <a:cs typeface="PingFang SC"/>
              </a:rPr>
              <a:t>危险操作机器强制执行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649224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688"/>
                </a:solidFill>
                <a:latin typeface="Menlo"/>
                <a:ea typeface="Menlo"/>
                <a:cs typeface="Menlo"/>
              </a:rPr>
              <a:t>evo-kernel · 经验内核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61320" y="6492240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688"/>
                </a:solidFill>
                <a:latin typeface="Menlo"/>
                <a:ea typeface="Menlo"/>
                <a:cs typeface="Menlo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688"/>
                </a:solidFill>
                <a:latin typeface="Menlo"/>
                <a:ea typeface="Menlo"/>
                <a:cs typeface="Menlo"/>
              </a:rPr>
              <a:t>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62179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E8EDF5"/>
                </a:solidFill>
                <a:latin typeface="PingFang SC"/>
                <a:ea typeface="PingFang SC"/>
                <a:cs typeface="PingFang SC"/>
              </a:rPr>
              <a:t>案例特写：UCM221 雷达项目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98448"/>
            <a:ext cx="475488" cy="45720"/>
          </a:xfrm>
          <a:prstGeom prst="rect">
            <a:avLst/>
          </a:prstGeom>
          <a:solidFill>
            <a:srgbClr val="4D9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688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6309360" cy="3566160"/>
          </a:xfrm>
          <a:prstGeom prst="roundRect">
            <a:avLst>
              <a:gd name="adj" fmla="val 6000"/>
            </a:avLst>
          </a:prstGeom>
          <a:solidFill>
            <a:srgbClr val="141824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19072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D9DFF"/>
                </a:solidFill>
                <a:latin typeface="Menlo"/>
                <a:ea typeface="Menlo"/>
                <a:cs typeface="Menlo"/>
              </a:rPr>
              <a:t>episode · faf-legacy-gate-domain-bugs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29968"/>
            <a:ext cx="5760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8EDF5"/>
                </a:solidFill>
                <a:latin typeface="PingFang SC"/>
                <a:ea typeface="PingFang SC"/>
                <a:cs typeface="PingFang SC"/>
              </a:rPr>
              <a:t>FAF 移植发现两个静默门限 bug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88920"/>
            <a:ext cx="5760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9AA7B8"/>
                </a:solidFill>
                <a:latin typeface="PingFang SC"/>
                <a:ea typeface="PingFang SC"/>
                <a:cs typeface="PingFang SC"/>
              </a:rPr>
              <a:t>俯仰门限作用在错误的量上（弧度 vs sin），方位门限是从未生效的死代码。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3703320"/>
            <a:ext cx="5760720" cy="18288"/>
          </a:xfrm>
          <a:prstGeom prst="rect">
            <a:avLst/>
          </a:prstGeom>
          <a:solidFill>
            <a:srgbClr val="232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840480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EC03E"/>
                </a:solidFill>
                <a:latin typeface="PingFang SC"/>
                <a:ea typeface="PingFang SC"/>
                <a:cs typeface="PingFang SC"/>
              </a:rPr>
              <a:t>效果可量化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133087"/>
            <a:ext cx="5760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EDF5"/>
                </a:solidFill>
                <a:latin typeface="Menlo"/>
                <a:ea typeface="Menlo"/>
                <a:cs typeface="Menlo"/>
              </a:rPr>
              <a:t>航迹覆盖 99.7% → 100.0%  ·  误差 0.18 m → 0.12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626864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688"/>
                </a:solidFill>
                <a:latin typeface="PingFang SC"/>
                <a:ea typeface="PingFang SC"/>
                <a:cs typeface="PingFang SC"/>
              </a:rPr>
              <a:t>下次任何人再碰 FAF 门限，这些坑在动手前已注入。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554480"/>
            <a:ext cx="4233672" cy="3566160"/>
          </a:xfrm>
          <a:prstGeom prst="roundRect">
            <a:avLst>
              <a:gd name="adj" fmla="val 6000"/>
            </a:avLst>
          </a:prstGeom>
          <a:solidFill>
            <a:srgbClr val="141824"/>
          </a:solidFill>
          <a:ln w="12700">
            <a:solidFill>
              <a:srgbClr val="232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17190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EDF5"/>
                </a:solidFill>
                <a:latin typeface="PingFang SC"/>
                <a:ea typeface="PingFang SC"/>
                <a:cs typeface="PingFang SC"/>
              </a:rPr>
              <a:t>playbook · 策略弹药库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2103120"/>
            <a:ext cx="3657600" cy="475488"/>
          </a:xfrm>
          <a:prstGeom prst="roundRect">
            <a:avLst>
              <a:gd name="adj" fmla="val 50000"/>
            </a:avLst>
          </a:prstGeom>
          <a:solidFill>
            <a:srgbClr val="181E2D"/>
          </a:solidFill>
          <a:ln w="12700">
            <a:solidFill>
              <a:srgbClr val="3EC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0" i="0">
                <a:solidFill>
                  <a:srgbClr val="3EC03E"/>
                </a:solidFill>
                <a:latin typeface="Menlo"/>
                <a:ea typeface="Menlo"/>
                <a:cs typeface="Menlo"/>
              </a:rPr>
              <a:t>chamber-doa-bin3-fixed-gate-rx-pair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2606039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8"/>
                </a:solidFill>
                <a:latin typeface="PingFang SC"/>
                <a:ea typeface="PingFang SC"/>
                <a:cs typeface="PingFang SC"/>
              </a:rPr>
              <a:t>暗室测角固定门限的 RX 配对方案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3127248"/>
            <a:ext cx="3657600" cy="475488"/>
          </a:xfrm>
          <a:prstGeom prst="roundRect">
            <a:avLst>
              <a:gd name="adj" fmla="val 50000"/>
            </a:avLst>
          </a:prstGeom>
          <a:solidFill>
            <a:srgbClr val="181E2D"/>
          </a:solidFill>
          <a:ln w="12700">
            <a:solidFill>
              <a:srgbClr val="3EC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0" i="0">
                <a:solidFill>
                  <a:srgbClr val="3EC03E"/>
                </a:solidFill>
                <a:latin typeface="Menlo"/>
                <a:ea typeface="Menlo"/>
                <a:cs typeface="Menlo"/>
              </a:rPr>
              <a:t>radar-doppler-bin-wraparound-unroll-first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3630168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8"/>
                </a:solidFill>
                <a:latin typeface="PingFang SC"/>
                <a:ea typeface="PingFang SC"/>
                <a:cs typeface="PingFang SC"/>
              </a:rPr>
              <a:t>多普勒 bin 卷绕先展开再处理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43800" y="4151376"/>
            <a:ext cx="3657600" cy="475488"/>
          </a:xfrm>
          <a:prstGeom prst="roundRect">
            <a:avLst>
              <a:gd name="adj" fmla="val 50000"/>
            </a:avLst>
          </a:prstGeom>
          <a:solidFill>
            <a:srgbClr val="181E2D"/>
          </a:solidFill>
          <a:ln w="12700">
            <a:solidFill>
              <a:srgbClr val="3EC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0" i="0">
                <a:solidFill>
                  <a:srgbClr val="3EC03E"/>
                </a:solidFill>
                <a:latin typeface="Menlo"/>
                <a:ea typeface="Menlo"/>
                <a:cs typeface="Menlo"/>
              </a:rPr>
              <a:t>armv7-cross-compile-needs-mfpu-neon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4654296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8"/>
                </a:solidFill>
                <a:latin typeface="PingFang SC"/>
                <a:ea typeface="PingFang SC"/>
                <a:cs typeface="PingFang SC"/>
              </a:rPr>
              <a:t>ARMv7 交叉编译必须显式开 NEON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817352" cy="914400"/>
          </a:xfrm>
          <a:prstGeom prst="roundRect">
            <a:avLst>
              <a:gd name="adj" fmla="val 6000"/>
            </a:avLst>
          </a:prstGeom>
          <a:solidFill>
            <a:srgbClr val="181E2D"/>
          </a:solidFill>
          <a:ln w="12700">
            <a:solidFill>
              <a:srgbClr val="232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486400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9085E9"/>
                </a:solidFill>
                <a:latin typeface="Menlo"/>
                <a:ea typeface="Menlo"/>
                <a:cs typeface="Menlo"/>
              </a:rPr>
              <a:t>facts · 项目现状随手可查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76072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7B8"/>
                </a:solidFill>
                <a:latin typeface="PingFang SC"/>
                <a:ea typeface="PingFang SC"/>
                <a:cs typeface="PingFang SC"/>
              </a:rPr>
              <a:t>交叉角数据集档案 · 仓结构重构记录 · tracker 宏定义位置 · ARM 超分辨性能结论 —— 新会话进来项目「现状」已在场。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49224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688"/>
                </a:solidFill>
                <a:latin typeface="Menlo"/>
                <a:ea typeface="Menlo"/>
                <a:cs typeface="Menlo"/>
              </a:rPr>
              <a:t>evo-kernel · 经验内核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61320" y="6492240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688"/>
                </a:solidFill>
                <a:latin typeface="Menlo"/>
                <a:ea typeface="Menlo"/>
                <a:cs typeface="Menlo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688"/>
                </a:solidFill>
                <a:latin typeface="Menlo"/>
                <a:ea typeface="Menlo"/>
                <a:cs typeface="Menlo"/>
              </a:rPr>
              <a:t>CLOSED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62179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E8EDF5"/>
                </a:solidFill>
                <a:latin typeface="PingFang SC"/>
                <a:ea typeface="PingFang SC"/>
                <a:cs typeface="PingFang SC"/>
              </a:rPr>
              <a:t>闭环效果：三大工程能力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98448"/>
            <a:ext cx="475488" cy="45720"/>
          </a:xfrm>
          <a:prstGeom prst="rect">
            <a:avLst/>
          </a:prstGeom>
          <a:solidFill>
            <a:srgbClr val="4D9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688"/>
                </a:solidFill>
                <a:latin typeface="Menlo"/>
                <a:ea typeface="Menlo"/>
                <a:cs typeface="Menlo"/>
              </a:rPr>
              <a:t>09</a:t>
            </a:r>
          </a:p>
        </p:txBody>
      </p:sp>
      <p:sp>
        <p:nvSpPr>
          <p:cNvPr id="6" name="Chevron 5"/>
          <p:cNvSpPr/>
          <p:nvPr/>
        </p:nvSpPr>
        <p:spPr>
          <a:xfrm>
            <a:off x="502920" y="1645920"/>
            <a:ext cx="1481328" cy="868680"/>
          </a:xfrm>
          <a:prstGeom prst="chevron">
            <a:avLst/>
          </a:prstGeom>
          <a:solidFill>
            <a:srgbClr val="181E2D"/>
          </a:solidFill>
          <a:ln w="12700">
            <a:solidFill>
              <a:srgbClr val="232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920240"/>
            <a:ext cx="12984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EDF5"/>
                </a:solidFill>
                <a:latin typeface="PingFang SC"/>
                <a:ea typeface="PingFang SC"/>
                <a:cs typeface="PingFang SC"/>
              </a:rPr>
              <a:t>会话发生</a:t>
            </a:r>
          </a:p>
        </p:txBody>
      </p:sp>
      <p:sp>
        <p:nvSpPr>
          <p:cNvPr id="8" name="Chevron 7"/>
          <p:cNvSpPr/>
          <p:nvPr/>
        </p:nvSpPr>
        <p:spPr>
          <a:xfrm>
            <a:off x="2130552" y="1645920"/>
            <a:ext cx="1481328" cy="868680"/>
          </a:xfrm>
          <a:prstGeom prst="chevron">
            <a:avLst/>
          </a:prstGeom>
          <a:solidFill>
            <a:srgbClr val="181E2D"/>
          </a:solidFill>
          <a:ln w="12700">
            <a:solidFill>
              <a:srgbClr val="232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40280" y="1920240"/>
            <a:ext cx="12984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EDF5"/>
                </a:solidFill>
                <a:latin typeface="PingFang SC"/>
                <a:ea typeface="PingFang SC"/>
                <a:cs typeface="PingFang SC"/>
              </a:rPr>
              <a:t>自动登记</a:t>
            </a:r>
          </a:p>
        </p:txBody>
      </p:sp>
      <p:sp>
        <p:nvSpPr>
          <p:cNvPr id="10" name="Chevron 9"/>
          <p:cNvSpPr/>
          <p:nvPr/>
        </p:nvSpPr>
        <p:spPr>
          <a:xfrm>
            <a:off x="3758184" y="1645920"/>
            <a:ext cx="1481328" cy="868680"/>
          </a:xfrm>
          <a:prstGeom prst="chevron">
            <a:avLst/>
          </a:prstGeom>
          <a:solidFill>
            <a:srgbClr val="181E2D"/>
          </a:solidFill>
          <a:ln w="12700">
            <a:solidFill>
              <a:srgbClr val="232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67912" y="1920240"/>
            <a:ext cx="12984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EDF5"/>
                </a:solidFill>
                <a:latin typeface="PingFang SC"/>
                <a:ea typeface="PingFang SC"/>
                <a:cs typeface="PingFang SC"/>
              </a:rPr>
              <a:t>周期蒸馏</a:t>
            </a:r>
          </a:p>
        </p:txBody>
      </p:sp>
      <p:sp>
        <p:nvSpPr>
          <p:cNvPr id="12" name="Chevron 11"/>
          <p:cNvSpPr/>
          <p:nvPr/>
        </p:nvSpPr>
        <p:spPr>
          <a:xfrm>
            <a:off x="5385816" y="1645920"/>
            <a:ext cx="1481328" cy="868680"/>
          </a:xfrm>
          <a:prstGeom prst="chevron">
            <a:avLst/>
          </a:prstGeom>
          <a:solidFill>
            <a:srgbClr val="181E2D"/>
          </a:solidFill>
          <a:ln w="12700">
            <a:solidFill>
              <a:srgbClr val="232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95544" y="1920240"/>
            <a:ext cx="12984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EDF5"/>
                </a:solidFill>
                <a:latin typeface="PingFang SC"/>
                <a:ea typeface="PingFang SC"/>
                <a:cs typeface="PingFang SC"/>
              </a:rPr>
              <a:t>人审入库</a:t>
            </a:r>
          </a:p>
        </p:txBody>
      </p:sp>
      <p:sp>
        <p:nvSpPr>
          <p:cNvPr id="14" name="Chevron 13"/>
          <p:cNvSpPr/>
          <p:nvPr/>
        </p:nvSpPr>
        <p:spPr>
          <a:xfrm>
            <a:off x="7013448" y="1645920"/>
            <a:ext cx="1481328" cy="868680"/>
          </a:xfrm>
          <a:prstGeom prst="chevron">
            <a:avLst/>
          </a:prstGeom>
          <a:solidFill>
            <a:srgbClr val="181E2D"/>
          </a:solidFill>
          <a:ln w="12700">
            <a:solidFill>
              <a:srgbClr val="232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23176" y="1920240"/>
            <a:ext cx="12984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EDF5"/>
                </a:solidFill>
                <a:latin typeface="PingFang SC"/>
                <a:ea typeface="PingFang SC"/>
                <a:cs typeface="PingFang SC"/>
              </a:rPr>
              <a:t>自动注入</a:t>
            </a:r>
          </a:p>
        </p:txBody>
      </p:sp>
      <p:sp>
        <p:nvSpPr>
          <p:cNvPr id="16" name="Chevron 15"/>
          <p:cNvSpPr/>
          <p:nvPr/>
        </p:nvSpPr>
        <p:spPr>
          <a:xfrm>
            <a:off x="8641080" y="1645920"/>
            <a:ext cx="1481328" cy="868680"/>
          </a:xfrm>
          <a:prstGeom prst="chevron">
            <a:avLst/>
          </a:prstGeom>
          <a:solidFill>
            <a:srgbClr val="181E2D"/>
          </a:solidFill>
          <a:ln w="12700">
            <a:solidFill>
              <a:srgbClr val="232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50808" y="1920240"/>
            <a:ext cx="12984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EDF5"/>
                </a:solidFill>
                <a:latin typeface="PingFang SC"/>
                <a:ea typeface="PingFang SC"/>
                <a:cs typeface="PingFang SC"/>
              </a:rPr>
              <a:t>对账验证</a:t>
            </a:r>
          </a:p>
        </p:txBody>
      </p:sp>
      <p:sp>
        <p:nvSpPr>
          <p:cNvPr id="18" name="Chevron 17"/>
          <p:cNvSpPr/>
          <p:nvPr/>
        </p:nvSpPr>
        <p:spPr>
          <a:xfrm>
            <a:off x="10268712" y="1645920"/>
            <a:ext cx="1481328" cy="868680"/>
          </a:xfrm>
          <a:prstGeom prst="chevron">
            <a:avLst/>
          </a:prstGeom>
          <a:solidFill>
            <a:srgbClr val="181E2D"/>
          </a:solidFill>
          <a:ln w="12700">
            <a:solidFill>
              <a:srgbClr val="232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78440" y="1920240"/>
            <a:ext cx="12984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EDF5"/>
                </a:solidFill>
                <a:latin typeface="PingFang SC"/>
                <a:ea typeface="PingFang SC"/>
                <a:cs typeface="PingFang SC"/>
              </a:rPr>
              <a:t>固化/退役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788920"/>
            <a:ext cx="10817352" cy="566928"/>
          </a:xfrm>
          <a:prstGeom prst="roundRect">
            <a:avLst>
              <a:gd name="adj" fmla="val 6000"/>
            </a:avLst>
          </a:prstGeom>
          <a:solidFill>
            <a:srgbClr val="141824"/>
          </a:solidFill>
          <a:ln w="12700">
            <a:solidFill>
              <a:srgbClr val="232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2926080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EC03E"/>
                </a:solidFill>
                <a:latin typeface="PingFang SC"/>
                <a:ea typeface="PingFang SC"/>
                <a:cs typeface="PingFang SC"/>
              </a:rPr>
              <a:t>⟲  下一次会话开始时，历史经验已在场 —— 回到「会话发生」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703320"/>
            <a:ext cx="3447288" cy="2148840"/>
          </a:xfrm>
          <a:prstGeom prst="roundRect">
            <a:avLst>
              <a:gd name="adj" fmla="val 6000"/>
            </a:avLst>
          </a:prstGeom>
          <a:solidFill>
            <a:srgbClr val="181E2D"/>
          </a:solidFill>
          <a:ln w="12700">
            <a:solidFill>
              <a:srgbClr val="232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703320"/>
            <a:ext cx="3447288" cy="73152"/>
          </a:xfrm>
          <a:prstGeom prst="rect">
            <a:avLst/>
          </a:prstGeom>
          <a:solidFill>
            <a:srgbClr val="4D9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950208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8EDF5"/>
                </a:solidFill>
                <a:latin typeface="PingFang SC"/>
                <a:ea typeface="PingFang SC"/>
                <a:cs typeface="PingFang SC"/>
              </a:rPr>
              <a:t>项目知识不随会话蒸发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57200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7B8"/>
                </a:solidFill>
                <a:latin typeface="PingFang SC"/>
                <a:ea typeface="PingFang SC"/>
                <a:cs typeface="PingFang SC"/>
              </a:rPr>
              <a:t>每次对话结论落为持久化条目；双 harness 共享同一份库，跨工具、跨天、跨会话连续。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70832" y="3703320"/>
            <a:ext cx="3447288" cy="2148840"/>
          </a:xfrm>
          <a:prstGeom prst="roundRect">
            <a:avLst>
              <a:gd name="adj" fmla="val 6000"/>
            </a:avLst>
          </a:prstGeom>
          <a:solidFill>
            <a:srgbClr val="181E2D"/>
          </a:solidFill>
          <a:ln w="12700">
            <a:solidFill>
              <a:srgbClr val="232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70832" y="3703320"/>
            <a:ext cx="3447288" cy="73152"/>
          </a:xfrm>
          <a:prstGeom prst="rect">
            <a:avLst/>
          </a:prstGeom>
          <a:solidFill>
            <a:srgbClr val="3EC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45152" y="3950208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8EDF5"/>
                </a:solidFill>
                <a:latin typeface="PingFang SC"/>
                <a:ea typeface="PingFang SC"/>
                <a:cs typeface="PingFang SC"/>
              </a:rPr>
              <a:t>经验在最需要的时刻出现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5152" y="457200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7B8"/>
                </a:solidFill>
                <a:latin typeface="PingFang SC"/>
                <a:ea typeface="PingFang SC"/>
                <a:cs typeface="PingFang SC"/>
              </a:rPr>
              <a:t>recall 按 triggers 语义匹配注入；不必主动检索，相关教训动手前已在上下文。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55864" y="3703320"/>
            <a:ext cx="3447288" cy="2148840"/>
          </a:xfrm>
          <a:prstGeom prst="roundRect">
            <a:avLst>
              <a:gd name="adj" fmla="val 6000"/>
            </a:avLst>
          </a:prstGeom>
          <a:solidFill>
            <a:srgbClr val="181E2D"/>
          </a:solidFill>
          <a:ln w="12700">
            <a:solidFill>
              <a:srgbClr val="232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55864" y="3703320"/>
            <a:ext cx="3447288" cy="73152"/>
          </a:xfrm>
          <a:prstGeom prst="rect">
            <a:avLst/>
          </a:prstGeom>
          <a:solidFill>
            <a:srgbClr val="908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30184" y="3950208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8EDF5"/>
                </a:solidFill>
                <a:latin typeface="PingFang SC"/>
                <a:ea typeface="PingFang SC"/>
                <a:cs typeface="PingFang SC"/>
              </a:rPr>
              <a:t>质量有账可查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0184" y="457200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7B8"/>
                </a:solidFill>
                <a:latin typeface="PingFang SC"/>
                <a:ea typeface="PingFang SC"/>
                <a:cs typeface="PingFang SC"/>
              </a:rPr>
              <a:t>每条经验带 helpful/harmful 计数与验证等级；差经验被统计、审计、退役。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49224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688"/>
                </a:solidFill>
                <a:latin typeface="Menlo"/>
                <a:ea typeface="Menlo"/>
                <a:cs typeface="Menlo"/>
              </a:rPr>
              <a:t>evo-kernel · 经验内核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61320" y="6492240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688"/>
                </a:solidFill>
                <a:latin typeface="Menlo"/>
                <a:ea typeface="Menlo"/>
                <a:cs typeface="Menlo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D9DFF"/>
                </a:solidFill>
                <a:latin typeface="Menlo"/>
                <a:ea typeface="Menlo"/>
                <a:cs typeface="Menlo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965960"/>
            <a:ext cx="10424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DF5"/>
                </a:solidFill>
                <a:latin typeface="PingFang SC"/>
                <a:ea typeface="PingFang SC"/>
                <a:cs typeface="PingFang SC"/>
              </a:rPr>
              <a:t>经验内核，让 AI 开发越用越强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063240"/>
            <a:ext cx="640080" cy="54864"/>
          </a:xfrm>
          <a:prstGeom prst="rect">
            <a:avLst/>
          </a:prstGeom>
          <a:solidFill>
            <a:srgbClr val="3EC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310128"/>
            <a:ext cx="10332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9AA7B8"/>
                </a:solidFill>
                <a:latin typeface="PingFang SC"/>
                <a:ea typeface="PingFang SC"/>
                <a:cs typeface="PingFang SC"/>
              </a:rPr>
              <a:t>把 AI 编码 harness 从「无记忆的工具」，升级为带项目经验、带安全护栏、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85615"/>
            <a:ext cx="10332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9AA7B8"/>
                </a:solidFill>
                <a:latin typeface="PingFang SC"/>
                <a:ea typeface="PingFang SC"/>
                <a:cs typeface="PingFang SC"/>
              </a:rPr>
              <a:t>经验可积累、可验证的工程开发系统。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709160"/>
            <a:ext cx="2514600" cy="457200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2700">
            <a:solidFill>
              <a:srgbClr val="4D9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i="0">
                <a:solidFill>
                  <a:srgbClr val="4D9DFF"/>
                </a:solidFill>
                <a:latin typeface="Menlo"/>
                <a:ea typeface="Menlo"/>
                <a:cs typeface="Menlo"/>
              </a:rPr>
              <a:t>经验即数据 · git 可审计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47872" y="4709160"/>
            <a:ext cx="2514600" cy="457200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2700">
            <a:solidFill>
              <a:srgbClr val="4D9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i="0">
                <a:solidFill>
                  <a:srgbClr val="4D9DFF"/>
                </a:solidFill>
                <a:latin typeface="Menlo"/>
                <a:ea typeface="Menlo"/>
                <a:cs typeface="Menlo"/>
              </a:rPr>
              <a:t>三 hook 实时闭环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4709160"/>
            <a:ext cx="2514600" cy="457200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2700">
            <a:solidFill>
              <a:srgbClr val="4D9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i="0">
                <a:solidFill>
                  <a:srgbClr val="4D9DFF"/>
                </a:solidFill>
                <a:latin typeface="Menlo"/>
                <a:ea typeface="Menlo"/>
                <a:cs typeface="Menlo"/>
              </a:rPr>
              <a:t>人审前置 + fail-open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14816" y="4709160"/>
            <a:ext cx="2514600" cy="457200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2700">
            <a:solidFill>
              <a:srgbClr val="4D9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i="0">
                <a:solidFill>
                  <a:srgbClr val="4D9DFF"/>
                </a:solidFill>
                <a:latin typeface="Menlo"/>
                <a:ea typeface="Menlo"/>
                <a:cs typeface="Menlo"/>
              </a:rPr>
              <a:t>六类记忆 + 硬约束护栏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688"/>
                </a:solidFill>
                <a:latin typeface="Menlo"/>
                <a:ea typeface="Menlo"/>
                <a:cs typeface="Menlo"/>
              </a:rPr>
              <a:t>evo-kernel  ·  ~/Dev/evo-kernel  ·  纯文件 + git  ·  Hermes × Claude 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